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ape 177"/>
          <p:cNvSpPr/>
          <p:nvPr>
            <p:ph type="sldImg"/>
          </p:nvPr>
        </p:nvSpPr>
        <p:spPr>
          <a:prstGeom prst="rect">
            <a:avLst/>
          </a:prstGeom>
        </p:spPr>
        <p:txBody>
          <a:bodyPr/>
          <a:lstStyle/>
          <a:p>
            <a:pPr/>
          </a:p>
        </p:txBody>
      </p:sp>
      <p:sp>
        <p:nvSpPr>
          <p:cNvPr id="178" name="Shape 178"/>
          <p:cNvSpPr/>
          <p:nvPr>
            <p:ph type="body" sz="quarter" idx="1"/>
          </p:nvPr>
        </p:nvSpPr>
        <p:spPr>
          <a:prstGeom prst="rect">
            <a:avLst/>
          </a:prstGeom>
        </p:spPr>
        <p:txBody>
          <a:bodyPr/>
          <a:lstStyle/>
          <a:p>
            <a:pPr/>
            <a:r>
              <a:t>What is the edge? Well it has been around for a long time and can mean different things to different people.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Shape 183"/>
          <p:cNvSpPr/>
          <p:nvPr>
            <p:ph type="sldImg"/>
          </p:nvPr>
        </p:nvSpPr>
        <p:spPr>
          <a:prstGeom prst="rect">
            <a:avLst/>
          </a:prstGeom>
        </p:spPr>
        <p:txBody>
          <a:bodyPr/>
          <a:lstStyle/>
          <a:p>
            <a:pPr/>
          </a:p>
        </p:txBody>
      </p:sp>
      <p:sp>
        <p:nvSpPr>
          <p:cNvPr id="184" name="Shape 184"/>
          <p:cNvSpPr/>
          <p:nvPr>
            <p:ph type="body" sz="quarter" idx="1"/>
          </p:nvPr>
        </p:nvSpPr>
        <p:spPr>
          <a:prstGeom prst="rect">
            <a:avLst/>
          </a:prstGeom>
        </p:spPr>
        <p:txBody>
          <a:bodyPr/>
          <a:lstStyle/>
          <a:p>
            <a:pPr/>
            <a:r>
              <a:t>My first roles in IT was with Royal Mail.</a:t>
            </a:r>
          </a:p>
          <a:p>
            <a:pPr/>
          </a:p>
          <a:p>
            <a:pPr/>
            <a:r>
              <a:t>I first worked with Parcelforce on their cab communications system. Essentially a car phone, a modem and a compute device. With this edge solution software rollout was slow and expensive with all devices sent back to our central team.</a:t>
            </a:r>
          </a:p>
          <a:p>
            <a:pPr/>
          </a:p>
          <a:p>
            <a:pPr/>
            <a:r>
              <a:t>I then moved to the field driving around delivery offices with bundles of floppy disks. This was hard to scale, configuration drift was a nightmare and it was very expensive.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r>
              <a:t>Fast forwards a 30 years and I’m still helping customers with edge and other solutions. I work across the full VMware suite of products and across industry verticals.</a:t>
            </a:r>
          </a:p>
          <a:p>
            <a:pPr/>
          </a:p>
          <a:p>
            <a:pPr/>
            <a:r>
              <a:t>I am also aligned to the Office of the CTO. Spend 20% of my time working on R&amp;D projects. Focus on sustainable software, serverless and the edge.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Edge customers typically have multiple remote sites which run applications which connect back to data centres systems. In recent years the edge application landscape has grown extensively and become unwieldy.</a:t>
            </a:r>
          </a:p>
          <a:p>
            <a:pPr/>
          </a:p>
          <a:p>
            <a:pPr/>
            <a:r>
              <a:t>Some examples of edge locations would be:</a:t>
            </a:r>
          </a:p>
          <a:p>
            <a:pPr/>
            <a:r>
              <a:t>- Factories, Warehouses and Electricity transmission sub-stations</a:t>
            </a:r>
          </a:p>
          <a:p>
            <a:pPr/>
            <a:r>
              <a:t>Some examples applications include:</a:t>
            </a:r>
          </a:p>
          <a:p>
            <a:pPr marL="279399" indent="-279399">
              <a:buSzPct val="123000"/>
              <a:buChar char="-"/>
            </a:pPr>
            <a:r>
              <a:t>Security, both physical buildings security and computer security</a:t>
            </a:r>
          </a:p>
          <a:p>
            <a:pPr marL="279399" indent="-279399">
              <a:buSzPct val="123000"/>
              <a:buChar char="-"/>
            </a:pPr>
            <a:r>
              <a:t>PLC and SCADA, industrial control systems,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hape 207"/>
          <p:cNvSpPr/>
          <p:nvPr>
            <p:ph type="sldImg"/>
          </p:nvPr>
        </p:nvSpPr>
        <p:spPr>
          <a:prstGeom prst="rect">
            <a:avLst/>
          </a:prstGeom>
        </p:spPr>
        <p:txBody>
          <a:bodyPr/>
          <a:lstStyle/>
          <a:p>
            <a:pPr/>
          </a:p>
        </p:txBody>
      </p:sp>
      <p:sp>
        <p:nvSpPr>
          <p:cNvPr id="208" name="Shape 208"/>
          <p:cNvSpPr/>
          <p:nvPr>
            <p:ph type="body" sz="quarter" idx="1"/>
          </p:nvPr>
        </p:nvSpPr>
        <p:spPr>
          <a:prstGeom prst="rect">
            <a:avLst/>
          </a:prstGeom>
        </p:spPr>
        <p:txBody>
          <a:bodyPr/>
          <a:lstStyle/>
          <a:p>
            <a:pPr/>
            <a:r>
              <a:t>There fastest moving area of edge at the distributed edge. Typically these are many hundreds and potentially thousands of widely distributed remote locations. Due to the scale these are mostly low cost commodity hardware connecting back to cloud services via the 4/5G networks.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p>
            <a:pPr/>
            <a:r>
              <a:t>So if we look closer at the use case of how this might be used.  And we look at.enabling predictive maintenance of wind turbine fleet. The solution would be a camera and thermal imaging camera streaming views of of the machinery. These image streams are processed by an inference engine which looks for anomalies if found the event triggers the turbine to alter its behaviour and notify control centre. Not all possible anomalies are understood by the inference engine and so stream also feeds a cloud for model training and improvement. The refined model needs quick distribution to the fleet.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Shape 241"/>
          <p:cNvSpPr/>
          <p:nvPr>
            <p:ph type="sldImg"/>
          </p:nvPr>
        </p:nvSpPr>
        <p:spPr>
          <a:prstGeom prst="rect">
            <a:avLst/>
          </a:prstGeom>
        </p:spPr>
        <p:txBody>
          <a:bodyPr/>
          <a:lstStyle/>
          <a:p>
            <a:pPr/>
          </a:p>
        </p:txBody>
      </p:sp>
      <p:sp>
        <p:nvSpPr>
          <p:cNvPr id="242" name="Shape 242"/>
          <p:cNvSpPr/>
          <p:nvPr>
            <p:ph type="body" sz="quarter" idx="1"/>
          </p:nvPr>
        </p:nvSpPr>
        <p:spPr>
          <a:prstGeom prst="rect">
            <a:avLst/>
          </a:prstGeom>
        </p:spPr>
        <p:txBody>
          <a:bodyPr/>
          <a:lstStyle/>
          <a:p>
            <a:pPr/>
            <a:r>
              <a:t>Looking at the applications across edge locations there is a use case pattern emerges. Data processing and the use of AI inference engines at the edge.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Some of the largest constraints today are the same as they were 30 years ago with my work at Royal Mail namely:</a:t>
            </a:r>
          </a:p>
          <a:p>
            <a:pPr marL="279399" indent="-279399">
              <a:buSzPct val="123000"/>
              <a:buChar char="-"/>
            </a:pPr>
            <a:r>
              <a:t>Application lifecycle management.</a:t>
            </a:r>
          </a:p>
          <a:p>
            <a:pPr marL="279399" indent="-279399">
              <a:buSzPct val="123000"/>
              <a:buChar char="-"/>
            </a:pPr>
            <a:r>
              <a:t>Configuration management across a large distributed sites.</a:t>
            </a:r>
          </a:p>
          <a:p>
            <a:pPr marL="279399" indent="-279399">
              <a:buSzPct val="123000"/>
              <a:buChar char="-"/>
            </a:pPr>
            <a:r>
              <a:t>Few trained in IT at the edge, and few dedicated to edge in central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Shape 256"/>
          <p:cNvSpPr/>
          <p:nvPr>
            <p:ph type="sldImg"/>
          </p:nvPr>
        </p:nvSpPr>
        <p:spPr>
          <a:prstGeom prst="rect">
            <a:avLst/>
          </a:prstGeom>
        </p:spPr>
        <p:txBody>
          <a:bodyPr/>
          <a:lstStyle/>
          <a:p>
            <a:pPr/>
          </a:p>
        </p:txBody>
      </p:sp>
      <p:sp>
        <p:nvSpPr>
          <p:cNvPr id="257" name="Shape 257"/>
          <p:cNvSpPr/>
          <p:nvPr>
            <p:ph type="body" sz="quarter" idx="1"/>
          </p:nvPr>
        </p:nvSpPr>
        <p:spPr>
          <a:prstGeom prst="rect">
            <a:avLst/>
          </a:prstGeom>
        </p:spPr>
        <p:txBody>
          <a:bodyPr/>
          <a:lstStyle/>
          <a:p>
            <a:pPr/>
            <a:r>
              <a:t>As part of alignment to OCTO I have been working on a edge project which aims to offer customers a GitOps workflow for device edge estate management and control. With edge hosts capable of running VMs and containers side by side on consumer grade hardware.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The high level architecture is a cloud management plane and each edge site has its own control and data plane.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310"/>
          <p:cNvSpPr/>
          <p:nvPr>
            <p:ph type="sldImg"/>
          </p:nvPr>
        </p:nvSpPr>
        <p:spPr>
          <a:prstGeom prst="rect">
            <a:avLst/>
          </a:prstGeom>
        </p:spPr>
        <p:txBody>
          <a:bodyPr/>
          <a:lstStyle/>
          <a:p>
            <a:pPr/>
          </a:p>
        </p:txBody>
      </p:sp>
      <p:sp>
        <p:nvSpPr>
          <p:cNvPr id="311" name="Shape 311"/>
          <p:cNvSpPr/>
          <p:nvPr>
            <p:ph type="body" sz="quarter" idx="1"/>
          </p:nvPr>
        </p:nvSpPr>
        <p:spPr>
          <a:prstGeom prst="rect">
            <a:avLst/>
          </a:prstGeom>
        </p:spPr>
        <p:txBody>
          <a:bodyPr/>
          <a:lstStyle/>
          <a:p>
            <a:pPr/>
            <a:r>
              <a:t>The different aspects of the edge configuration are stored in yaml files in Git repository.</a:t>
            </a:r>
          </a:p>
          <a:p>
            <a:pPr/>
            <a:r>
              <a:t>The flux continuous delivery engine is configured to poll repository every 60seconds.</a:t>
            </a:r>
          </a:p>
          <a:p>
            <a:pPr/>
            <a:r>
              <a:t>Flux pulls the configuration and hands to Kubernetes Kustomize to realise the configuration.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hape 317"/>
          <p:cNvSpPr/>
          <p:nvPr>
            <p:ph type="sldImg"/>
          </p:nvPr>
        </p:nvSpPr>
        <p:spPr>
          <a:prstGeom prst="rect">
            <a:avLst/>
          </a:prstGeom>
        </p:spPr>
        <p:txBody>
          <a:bodyPr/>
          <a:lstStyle/>
          <a:p>
            <a:pPr/>
          </a:p>
        </p:txBody>
      </p:sp>
      <p:sp>
        <p:nvSpPr>
          <p:cNvPr id="318" name="Shape 318"/>
          <p:cNvSpPr/>
          <p:nvPr>
            <p:ph type="body" sz="quarter" idx="1"/>
          </p:nvPr>
        </p:nvSpPr>
        <p:spPr>
          <a:prstGeom prst="rect">
            <a:avLst/>
          </a:prstGeom>
        </p:spPr>
        <p:txBody>
          <a:bodyPr/>
          <a:lstStyle/>
          <a:p>
            <a:pPr/>
            <a:r>
              <a:t>There can be no assumed IT skills at the device edge as such zero touch provisioning is used.  The device gets shipped with just enough configuration to connect and authenticate with the cloud service to pull its configuration.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Shape 323"/>
          <p:cNvSpPr/>
          <p:nvPr>
            <p:ph type="sldImg"/>
          </p:nvPr>
        </p:nvSpPr>
        <p:spPr>
          <a:prstGeom prst="rect">
            <a:avLst/>
          </a:prstGeom>
        </p:spPr>
        <p:txBody>
          <a:bodyPr/>
          <a:lstStyle/>
          <a:p>
            <a:pPr/>
          </a:p>
        </p:txBody>
      </p:sp>
      <p:sp>
        <p:nvSpPr>
          <p:cNvPr id="324" name="Shape 324"/>
          <p:cNvSpPr/>
          <p:nvPr>
            <p:ph type="body" sz="quarter" idx="1"/>
          </p:nvPr>
        </p:nvSpPr>
        <p:spPr>
          <a:prstGeom prst="rect">
            <a:avLst/>
          </a:prstGeom>
        </p:spPr>
        <p:txBody>
          <a:bodyPr/>
          <a:lstStyle/>
          <a:p>
            <a:pPr/>
            <a:r>
              <a:t>In order for Kustomize to manage ESXi host configuration VMware wrote a Kubernetes HostConfiguration Operator. This connects to the ESXi APIs to enact the configuration pulled from the git repository.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Shape 329"/>
          <p:cNvSpPr/>
          <p:nvPr>
            <p:ph type="sldImg"/>
          </p:nvPr>
        </p:nvSpPr>
        <p:spPr>
          <a:prstGeom prst="rect">
            <a:avLst/>
          </a:prstGeom>
        </p:spPr>
        <p:txBody>
          <a:bodyPr/>
          <a:lstStyle/>
          <a:p>
            <a:pPr/>
          </a:p>
        </p:txBody>
      </p:sp>
      <p:sp>
        <p:nvSpPr>
          <p:cNvPr id="330" name="Shape 330"/>
          <p:cNvSpPr/>
          <p:nvPr>
            <p:ph type="body" sz="quarter" idx="1"/>
          </p:nvPr>
        </p:nvSpPr>
        <p:spPr>
          <a:prstGeom prst="rect">
            <a:avLst/>
          </a:prstGeom>
        </p:spPr>
        <p:txBody>
          <a:bodyPr/>
          <a:lstStyle/>
          <a:p>
            <a:pPr/>
            <a:r>
              <a:t>Kubernetes to control the deployment of VMs this uses the Kubernetes VM Operators introduced with vSphere 7.</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atin typeface="+mn-lt"/>
                <a:ea typeface="+mn-ea"/>
                <a:cs typeface="+mn-cs"/>
                <a:sym typeface="Helvetica"/>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atin typeface="+mn-lt"/>
                <a:ea typeface="+mn-ea"/>
                <a:cs typeface="+mn-cs"/>
                <a:sym typeface="Helvetica"/>
              </a:defRPr>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lgn="r">
              <a:defRPr b="0" spc="-213" sz="10700"/>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oumo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Helvetica Neue"/>
          <a:ea typeface="Helvetica Neue"/>
          <a:cs typeface="Helvetica Neue"/>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veco.showcase.vmware.com/#/launchpad"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12.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 Id="rId3" Type="http://schemas.openxmlformats.org/officeDocument/2006/relationships/image" Target="../media/image14.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5.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71" name="Darryl Cauldwell"/>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Darryl Cauldwell</a:t>
            </a:r>
          </a:p>
        </p:txBody>
      </p:sp>
      <p:sp>
        <p:nvSpPr>
          <p:cNvPr id="172" name="GitOps For The Distributed Enterprise Edge"/>
          <p:cNvSpPr txBox="1"/>
          <p:nvPr>
            <p:ph type="ctrTitle"/>
          </p:nvPr>
        </p:nvSpPr>
        <p:spPr>
          <a:prstGeom prst="rect">
            <a:avLst/>
          </a:prstGeom>
        </p:spPr>
        <p:txBody>
          <a:bodyPr/>
          <a:lstStyle/>
          <a:p>
            <a:pPr/>
            <a:r>
              <a:t>GitOps For The Distributed Enterprise Edge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https://www.flickr.com/photos/eddie_austrums/27391047687/"/>
          <p:cNvSpPr txBox="1"/>
          <p:nvPr/>
        </p:nvSpPr>
        <p:spPr>
          <a:xfrm>
            <a:off x="-6249" y="13014528"/>
            <a:ext cx="6796139" cy="38694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lvl1pPr>
          </a:lstStyle>
          <a:p>
            <a:pPr/>
            <a:r>
              <a:t>https://www.flickr.com/photos/eddie_austrums/27391047687/</a:t>
            </a:r>
          </a:p>
        </p:txBody>
      </p:sp>
      <p:sp>
        <p:nvSpPr>
          <p:cNvPr id="175" name="What is edge computing?"/>
          <p:cNvSpPr txBox="1"/>
          <p:nvPr>
            <p:ph type="title" idx="4294967295"/>
          </p:nvPr>
        </p:nvSpPr>
        <p:spPr>
          <a:xfrm>
            <a:off x="9067897" y="1028045"/>
            <a:ext cx="15104571" cy="11539240"/>
          </a:xfrm>
          <a:prstGeom prst="rect">
            <a:avLst/>
          </a:prstGeom>
        </p:spPr>
        <p:txBody>
          <a:bodyPr anchor="ctr"/>
          <a:lstStyle/>
          <a:p>
            <a:pPr algn="r">
              <a:defRPr b="0" spc="-213" sz="10700"/>
            </a:pPr>
            <a:r>
              <a:rPr spc="-200" sz="10000"/>
              <a:t>What is edge computing? </a:t>
            </a:r>
            <a:r>
              <a:t>    </a:t>
            </a:r>
          </a:p>
        </p:txBody>
      </p:sp>
      <p:pic>
        <p:nvPicPr>
          <p:cNvPr id="176" name="pasted-movie.png" descr="pasted-movie.png"/>
          <p:cNvPicPr>
            <a:picLocks noChangeAspect="1"/>
          </p:cNvPicPr>
          <p:nvPr/>
        </p:nvPicPr>
        <p:blipFill>
          <a:blip r:embed="rId3">
            <a:extLst/>
          </a:blip>
          <a:stretch>
            <a:fillRect/>
          </a:stretch>
        </p:blipFill>
        <p:spPr>
          <a:xfrm>
            <a:off x="-44450" y="-76200"/>
            <a:ext cx="8674100" cy="13004800"/>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0" name="pasted-movie.png" descr="pasted-movie.png"/>
          <p:cNvPicPr>
            <a:picLocks noChangeAspect="1"/>
          </p:cNvPicPr>
          <p:nvPr/>
        </p:nvPicPr>
        <p:blipFill>
          <a:blip r:embed="rId3">
            <a:extLst/>
          </a:blip>
          <a:stretch>
            <a:fillRect/>
          </a:stretch>
        </p:blipFill>
        <p:spPr>
          <a:xfrm>
            <a:off x="19371836" y="544504"/>
            <a:ext cx="4217081" cy="2366549"/>
          </a:xfrm>
          <a:prstGeom prst="rect">
            <a:avLst/>
          </a:prstGeom>
          <a:ln w="12700">
            <a:miter lim="400000"/>
          </a:ln>
        </p:spPr>
      </p:pic>
      <p:sp>
        <p:nvSpPr>
          <p:cNvPr id="181" name="48,000 Vehicles of which 1,110 Parcelforce vehicle edge…"/>
          <p:cNvSpPr txBox="1"/>
          <p:nvPr/>
        </p:nvSpPr>
        <p:spPr>
          <a:xfrm>
            <a:off x="906463" y="4140200"/>
            <a:ext cx="22571076" cy="7467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spcBef>
                <a:spcPts val="0"/>
              </a:spcBef>
              <a:defRPr>
                <a:latin typeface="+mn-lt"/>
                <a:ea typeface="+mn-ea"/>
                <a:cs typeface="+mn-cs"/>
                <a:sym typeface="Helvetica"/>
              </a:defRPr>
            </a:pPr>
            <a:r>
              <a:t>48,000 Vehicles of which </a:t>
            </a:r>
            <a:r>
              <a:rPr b="1"/>
              <a:t>1,110 Parcelforce vehicle edge</a:t>
            </a:r>
          </a:p>
          <a:p>
            <a:pPr marL="609599" indent="-609599">
              <a:spcBef>
                <a:spcPts val="0"/>
              </a:spcBef>
              <a:buSzPct val="123000"/>
              <a:buChar char="-"/>
              <a:defRPr>
                <a:latin typeface="+mn-lt"/>
                <a:ea typeface="+mn-ea"/>
                <a:cs typeface="+mn-cs"/>
                <a:sym typeface="Helvetica"/>
              </a:defRPr>
            </a:pPr>
            <a:r>
              <a:t>Analogue carphone, modem and compute device.</a:t>
            </a:r>
          </a:p>
          <a:p>
            <a:pPr marL="609599" indent="-609599">
              <a:spcBef>
                <a:spcPts val="0"/>
              </a:spcBef>
              <a:buSzPct val="123000"/>
              <a:buChar char="-"/>
              <a:defRPr>
                <a:latin typeface="+mn-lt"/>
                <a:ea typeface="+mn-ea"/>
                <a:cs typeface="+mn-cs"/>
                <a:sym typeface="Helvetica"/>
              </a:defRPr>
            </a:pPr>
            <a:r>
              <a:t>Send back to central service centre application lifecycle.</a:t>
            </a:r>
          </a:p>
          <a:p>
            <a:pPr marL="609599" indent="-609599">
              <a:spcBef>
                <a:spcPts val="0"/>
              </a:spcBef>
              <a:buSzPct val="123000"/>
              <a:buChar char="-"/>
              <a:defRPr>
                <a:latin typeface="+mn-lt"/>
                <a:ea typeface="+mn-ea"/>
                <a:cs typeface="+mn-cs"/>
                <a:sym typeface="Helvetica"/>
              </a:defRPr>
            </a:pPr>
            <a:r>
              <a:t>Lifecycle management was </a:t>
            </a:r>
            <a:r>
              <a:rPr b="1"/>
              <a:t>slow</a:t>
            </a:r>
            <a:r>
              <a:t> and </a:t>
            </a:r>
            <a:r>
              <a:rPr b="1"/>
              <a:t>expensive</a:t>
            </a:r>
            <a:r>
              <a:t>.</a:t>
            </a:r>
          </a:p>
          <a:p>
            <a:pPr>
              <a:spcBef>
                <a:spcPts val="0"/>
              </a:spcBef>
              <a:defRPr>
                <a:latin typeface="+mn-lt"/>
                <a:ea typeface="+mn-ea"/>
                <a:cs typeface="+mn-cs"/>
                <a:sym typeface="Helvetica"/>
              </a:defRPr>
            </a:pPr>
          </a:p>
          <a:p>
            <a:pPr>
              <a:spcBef>
                <a:spcPts val="0"/>
              </a:spcBef>
              <a:defRPr>
                <a:latin typeface="+mn-lt"/>
                <a:ea typeface="+mn-ea"/>
                <a:cs typeface="+mn-cs"/>
                <a:sym typeface="Helvetica"/>
              </a:defRPr>
            </a:pPr>
            <a:r>
              <a:t>37 sorting offices and </a:t>
            </a:r>
            <a:r>
              <a:rPr b="1"/>
              <a:t>1,356 Royal Mail delivery offices</a:t>
            </a:r>
            <a:endParaRPr b="1"/>
          </a:p>
          <a:p>
            <a:pPr marL="594359" indent="-594359">
              <a:spcBef>
                <a:spcPts val="0"/>
              </a:spcBef>
              <a:buSzPct val="123000"/>
              <a:buChar char="-"/>
              <a:defRPr>
                <a:latin typeface="+mn-lt"/>
                <a:ea typeface="+mn-ea"/>
                <a:cs typeface="+mn-cs"/>
                <a:sym typeface="Helvetica"/>
              </a:defRPr>
            </a:pPr>
            <a:r>
              <a:t>Windows PCs running apps for track and trace, route planning, revenue protection systems and MS Office.</a:t>
            </a:r>
          </a:p>
          <a:p>
            <a:pPr marL="594359" indent="-594359">
              <a:spcBef>
                <a:spcPts val="0"/>
              </a:spcBef>
              <a:buSzPct val="123000"/>
              <a:buChar char="-"/>
              <a:defRPr>
                <a:latin typeface="+mn-lt"/>
                <a:ea typeface="+mn-ea"/>
                <a:cs typeface="+mn-cs"/>
                <a:sym typeface="Helvetica"/>
              </a:defRPr>
            </a:pPr>
            <a:r>
              <a:t>“Man in a van” systems administration and application lifecycle.</a:t>
            </a:r>
          </a:p>
          <a:p>
            <a:pPr marL="594359" indent="-594359">
              <a:spcBef>
                <a:spcPts val="0"/>
              </a:spcBef>
              <a:buSzPct val="123000"/>
              <a:buChar char="-"/>
              <a:defRPr>
                <a:latin typeface="+mn-lt"/>
                <a:ea typeface="+mn-ea"/>
                <a:cs typeface="+mn-cs"/>
                <a:sym typeface="Helvetica"/>
              </a:defRPr>
            </a:pPr>
            <a:r>
              <a:rPr b="1"/>
              <a:t>Poor configuration management</a:t>
            </a:r>
            <a:r>
              <a:t>, </a:t>
            </a:r>
            <a:r>
              <a:rPr b="1"/>
              <a:t>slow rollout</a:t>
            </a:r>
            <a:r>
              <a:t> of new app versions and </a:t>
            </a:r>
            <a:r>
              <a:rPr b="1"/>
              <a:t>very expensive</a:t>
            </a:r>
            <a:r>
              <a:t>.</a:t>
            </a:r>
          </a:p>
        </p:txBody>
      </p:sp>
      <p:sp>
        <p:nvSpPr>
          <p:cNvPr id="182" name="Royal Mail IT Services…"/>
          <p:cNvSpPr txBox="1"/>
          <p:nvPr/>
        </p:nvSpPr>
        <p:spPr>
          <a:xfrm>
            <a:off x="871475" y="621029"/>
            <a:ext cx="6518077" cy="150114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spcBef>
                <a:spcPts val="0"/>
              </a:spcBef>
              <a:defRPr b="1">
                <a:latin typeface="+mn-lt"/>
                <a:ea typeface="+mn-ea"/>
                <a:cs typeface="+mn-cs"/>
                <a:sym typeface="Helvetica"/>
              </a:defRPr>
            </a:pPr>
            <a:r>
              <a:t>Royal Mail IT Services</a:t>
            </a:r>
          </a:p>
          <a:p>
            <a:pPr>
              <a:spcBef>
                <a:spcPts val="0"/>
              </a:spcBef>
              <a:defRPr>
                <a:latin typeface="+mn-lt"/>
                <a:ea typeface="+mn-ea"/>
                <a:cs typeface="+mn-cs"/>
                <a:sym typeface="Helvetica"/>
              </a:defRPr>
            </a:pPr>
            <a:r>
              <a:t>1993 - 2003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Customer Success Architect…"/>
          <p:cNvSpPr txBox="1"/>
          <p:nvPr/>
        </p:nvSpPr>
        <p:spPr>
          <a:xfrm>
            <a:off x="707248" y="3355975"/>
            <a:ext cx="22969505" cy="700405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spcBef>
                <a:spcPts val="0"/>
              </a:spcBef>
              <a:defRPr>
                <a:latin typeface="+mn-lt"/>
                <a:ea typeface="+mn-ea"/>
                <a:cs typeface="+mn-cs"/>
                <a:sym typeface="Helvetica"/>
              </a:defRPr>
            </a:pPr>
            <a:r>
              <a:t>Customer Success Architect</a:t>
            </a:r>
          </a:p>
          <a:p>
            <a:pPr marL="609599" indent="-609599">
              <a:spcBef>
                <a:spcPts val="0"/>
              </a:spcBef>
              <a:buSzPct val="123000"/>
              <a:buChar char="-"/>
              <a:defRPr sz="4400">
                <a:latin typeface="+mn-lt"/>
                <a:ea typeface="+mn-ea"/>
                <a:cs typeface="+mn-cs"/>
                <a:sym typeface="Helvetica"/>
              </a:defRPr>
            </a:pPr>
            <a:r>
              <a:t>Cloud Foundation: vSphere, vSAN, NSX, Aria suite</a:t>
            </a:r>
          </a:p>
          <a:p>
            <a:pPr marL="609599" indent="-609599">
              <a:spcBef>
                <a:spcPts val="0"/>
              </a:spcBef>
              <a:buSzPct val="123000"/>
              <a:buChar char="-"/>
              <a:defRPr sz="4400">
                <a:latin typeface="+mn-lt"/>
                <a:ea typeface="+mn-ea"/>
                <a:cs typeface="+mn-cs"/>
                <a:sym typeface="Helvetica"/>
              </a:defRPr>
            </a:pPr>
            <a:r>
              <a:t>Tanzu: App Modernisation, Spring Framework, Cloud Foundry, Kubernetes, Mission Control, Service Mesh</a:t>
            </a:r>
          </a:p>
          <a:p>
            <a:pPr marL="609599" indent="-609599">
              <a:spcBef>
                <a:spcPts val="0"/>
              </a:spcBef>
              <a:buSzPct val="123000"/>
              <a:buChar char="-"/>
              <a:defRPr sz="4400">
                <a:latin typeface="+mn-lt"/>
                <a:ea typeface="+mn-ea"/>
                <a:cs typeface="+mn-cs"/>
                <a:sym typeface="Helvetica"/>
              </a:defRPr>
            </a:pPr>
            <a:r>
              <a:t>Telco Cloud: RAN Disaggregation, Private 4/5G, OpenStack, Cloud Director</a:t>
            </a:r>
          </a:p>
          <a:p>
            <a:pPr marL="609599" indent="-609599">
              <a:spcBef>
                <a:spcPts val="0"/>
              </a:spcBef>
              <a:buSzPct val="123000"/>
              <a:buChar char="-"/>
              <a:defRPr b="1" sz="4400">
                <a:latin typeface="+mn-lt"/>
                <a:ea typeface="+mn-ea"/>
                <a:cs typeface="+mn-cs"/>
                <a:sym typeface="Helvetica"/>
              </a:defRPr>
            </a:pPr>
            <a:r>
              <a:t>Secure Access Service Edge: Edge Compute Stack, SD-WAN, Edge Intelligence</a:t>
            </a:r>
          </a:p>
          <a:p>
            <a:pPr>
              <a:spcBef>
                <a:spcPts val="0"/>
              </a:spcBef>
              <a:defRPr>
                <a:latin typeface="+mn-lt"/>
                <a:ea typeface="+mn-ea"/>
                <a:cs typeface="+mn-cs"/>
                <a:sym typeface="Helvetica"/>
              </a:defRPr>
            </a:pPr>
          </a:p>
          <a:p>
            <a:pPr>
              <a:spcBef>
                <a:spcPts val="0"/>
              </a:spcBef>
              <a:defRPr>
                <a:latin typeface="+mn-lt"/>
                <a:ea typeface="+mn-ea"/>
                <a:cs typeface="+mn-cs"/>
                <a:sym typeface="Helvetica"/>
              </a:defRPr>
            </a:pPr>
            <a:r>
              <a:t>Office of CTO Ambassador</a:t>
            </a:r>
          </a:p>
          <a:p>
            <a:pPr marL="731519" indent="-731519">
              <a:spcBef>
                <a:spcPts val="0"/>
              </a:spcBef>
              <a:buSzPct val="123000"/>
              <a:buChar char="-"/>
              <a:defRPr sz="4400">
                <a:latin typeface="+mn-lt"/>
                <a:ea typeface="+mn-ea"/>
                <a:cs typeface="+mn-cs"/>
                <a:sym typeface="Helvetica"/>
              </a:defRPr>
            </a:pPr>
            <a:r>
              <a:t>Sustainable Software</a:t>
            </a:r>
          </a:p>
          <a:p>
            <a:pPr marL="731519" indent="-731519">
              <a:spcBef>
                <a:spcPts val="0"/>
              </a:spcBef>
              <a:buSzPct val="123000"/>
              <a:buChar char="-"/>
              <a:defRPr sz="4400">
                <a:latin typeface="+mn-lt"/>
                <a:ea typeface="+mn-ea"/>
                <a:cs typeface="+mn-cs"/>
                <a:sym typeface="Helvetica"/>
              </a:defRPr>
            </a:pPr>
            <a:r>
              <a:t>Serverless (Knative)</a:t>
            </a:r>
          </a:p>
          <a:p>
            <a:pPr marL="731519" indent="-731519">
              <a:spcBef>
                <a:spcPts val="0"/>
              </a:spcBef>
              <a:buSzPct val="123000"/>
              <a:buChar char="-"/>
              <a:defRPr b="1" sz="4400">
                <a:latin typeface="+mn-lt"/>
                <a:ea typeface="+mn-ea"/>
                <a:cs typeface="+mn-cs"/>
                <a:sym typeface="Helvetica"/>
              </a:defRPr>
            </a:pPr>
            <a:r>
              <a:t>Edge</a:t>
            </a:r>
          </a:p>
        </p:txBody>
      </p:sp>
      <p:sp>
        <p:nvSpPr>
          <p:cNvPr id="187" name="VMware…"/>
          <p:cNvSpPr txBox="1"/>
          <p:nvPr/>
        </p:nvSpPr>
        <p:spPr>
          <a:xfrm>
            <a:off x="571030" y="570229"/>
            <a:ext cx="9003606" cy="1501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spcBef>
                <a:spcPts val="0"/>
              </a:spcBef>
              <a:defRPr b="1">
                <a:latin typeface="+mn-lt"/>
                <a:ea typeface="+mn-ea"/>
                <a:cs typeface="+mn-cs"/>
                <a:sym typeface="Helvetica"/>
              </a:defRPr>
            </a:pPr>
            <a:r>
              <a:t>VMware</a:t>
            </a:r>
          </a:p>
          <a:p>
            <a:pPr>
              <a:spcBef>
                <a:spcPts val="0"/>
              </a:spcBef>
              <a:defRPr>
                <a:latin typeface="+mn-lt"/>
                <a:ea typeface="+mn-ea"/>
                <a:cs typeface="+mn-cs"/>
                <a:sym typeface="Helvetica"/>
              </a:defRPr>
            </a:pPr>
            <a:r>
              <a:t>2019 - present</a:t>
            </a:r>
          </a:p>
        </p:txBody>
      </p:sp>
      <p:pic>
        <p:nvPicPr>
          <p:cNvPr id="188" name="pasted-movie.png" descr="pasted-movie.png"/>
          <p:cNvPicPr>
            <a:picLocks noChangeAspect="1"/>
          </p:cNvPicPr>
          <p:nvPr/>
        </p:nvPicPr>
        <p:blipFill>
          <a:blip r:embed="rId3">
            <a:extLst/>
          </a:blip>
          <a:stretch>
            <a:fillRect/>
          </a:stretch>
        </p:blipFill>
        <p:spPr>
          <a:xfrm>
            <a:off x="19196050" y="555845"/>
            <a:ext cx="4722767" cy="1529911"/>
          </a:xfrm>
          <a:prstGeom prst="rect">
            <a:avLst/>
          </a:prstGeom>
          <a:ln w="12700">
            <a:miter lim="400000"/>
          </a:ln>
        </p:spPr>
      </p:pic>
      <p:pic>
        <p:nvPicPr>
          <p:cNvPr id="189" name="Picture 30" descr="Picture 30"/>
          <p:cNvPicPr>
            <a:picLocks noChangeAspect="1"/>
          </p:cNvPicPr>
          <p:nvPr/>
        </p:nvPicPr>
        <p:blipFill>
          <a:blip r:embed="rId4">
            <a:extLst/>
          </a:blip>
          <a:stretch>
            <a:fillRect/>
          </a:stretch>
        </p:blipFill>
        <p:spPr>
          <a:xfrm>
            <a:off x="666466" y="11630245"/>
            <a:ext cx="1691036" cy="1691035"/>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Few nodes with shared storage, cluster for availability and resilience.…"/>
          <p:cNvSpPr txBox="1"/>
          <p:nvPr>
            <p:ph type="body" sz="half" idx="1"/>
          </p:nvPr>
        </p:nvSpPr>
        <p:spPr>
          <a:prstGeom prst="rect">
            <a:avLst/>
          </a:prstGeom>
        </p:spPr>
        <p:txBody>
          <a:bodyPr/>
          <a:lstStyle/>
          <a:p>
            <a:pPr marL="0" indent="0">
              <a:buSzTx/>
              <a:buNone/>
              <a:defRPr>
                <a:latin typeface="+mn-lt"/>
                <a:ea typeface="+mn-ea"/>
                <a:cs typeface="+mn-cs"/>
                <a:sym typeface="Helvetica"/>
              </a:defRPr>
            </a:pPr>
            <a:r>
              <a:t>Few nodes with shared storage, cluster for availability and resilience.</a:t>
            </a:r>
          </a:p>
          <a:p>
            <a:pPr marL="0" indent="0">
              <a:buSzTx/>
              <a:buNone/>
              <a:defRPr>
                <a:latin typeface="+mn-lt"/>
                <a:ea typeface="+mn-ea"/>
                <a:cs typeface="+mn-cs"/>
                <a:sym typeface="Helvetica"/>
              </a:defRPr>
            </a:pPr>
            <a:r>
              <a:t>Data centre WAN connectivity and management plane.</a:t>
            </a:r>
          </a:p>
          <a:p>
            <a:pPr marL="0" indent="0">
              <a:buSzTx/>
              <a:buNone/>
              <a:defRPr>
                <a:latin typeface="+mn-lt"/>
                <a:ea typeface="+mn-ea"/>
                <a:cs typeface="+mn-cs"/>
                <a:sym typeface="Helvetica"/>
              </a:defRPr>
            </a:pPr>
            <a:r>
              <a:t>Optimised to run low latency applications.</a:t>
            </a:r>
          </a:p>
          <a:p>
            <a:pPr marL="0" indent="0">
              <a:buSzTx/>
              <a:buNone/>
              <a:defRPr>
                <a:latin typeface="+mn-lt"/>
                <a:ea typeface="+mn-ea"/>
                <a:cs typeface="+mn-cs"/>
                <a:sym typeface="Helvetica"/>
              </a:defRPr>
            </a:pPr>
            <a:r>
              <a:t>dGPU enabled Artificial Inteligence.</a:t>
            </a:r>
          </a:p>
        </p:txBody>
      </p:sp>
      <p:sp>
        <p:nvSpPr>
          <p:cNvPr id="194" name="Near Edge"/>
          <p:cNvSpPr txBox="1"/>
          <p:nvPr>
            <p:ph type="title"/>
          </p:nvPr>
        </p:nvSpPr>
        <p:spPr>
          <a:prstGeom prst="rect">
            <a:avLst/>
          </a:prstGeom>
        </p:spPr>
        <p:txBody>
          <a:bodyPr/>
          <a:lstStyle/>
          <a:p>
            <a:pPr/>
            <a:r>
              <a:t>Near Edge</a:t>
            </a:r>
          </a:p>
        </p:txBody>
      </p:sp>
      <p:sp>
        <p:nvSpPr>
          <p:cNvPr id="195" name="Warehouses…"/>
          <p:cNvSpPr/>
          <p:nvPr/>
        </p:nvSpPr>
        <p:spPr>
          <a:xfrm>
            <a:off x="12773719" y="6199016"/>
            <a:ext cx="10807701" cy="2295427"/>
          </a:xfrm>
          <a:prstGeom prst="roundRect">
            <a:avLst>
              <a:gd name="adj" fmla="val 15797"/>
            </a:avLst>
          </a:prstGeom>
          <a:solidFill>
            <a:srgbClr val="60D937"/>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lnSpc>
                <a:spcPct val="100000"/>
              </a:lnSpc>
              <a:spcBef>
                <a:spcPts val="0"/>
              </a:spcBef>
              <a:defRPr b="1" sz="3200">
                <a:latin typeface="+mn-lt"/>
                <a:ea typeface="+mn-ea"/>
                <a:cs typeface="+mn-cs"/>
                <a:sym typeface="Helvetica"/>
              </a:defRPr>
            </a:pPr>
            <a:r>
              <a:t>Warehouses</a:t>
            </a:r>
          </a:p>
          <a:p>
            <a:pPr marL="520191" indent="-520191" defTabSz="825500">
              <a:lnSpc>
                <a:spcPct val="100000"/>
              </a:lnSpc>
              <a:spcBef>
                <a:spcPts val="0"/>
              </a:spcBef>
              <a:buSzPct val="123000"/>
              <a:buChar char="-"/>
              <a:defRPr sz="3200">
                <a:latin typeface="+mn-lt"/>
                <a:ea typeface="+mn-ea"/>
                <a:cs typeface="+mn-cs"/>
                <a:sym typeface="Helvetica"/>
              </a:defRPr>
            </a:pPr>
            <a:r>
              <a:t>Quality Inspection - Computer Vision</a:t>
            </a:r>
          </a:p>
          <a:p>
            <a:pPr marL="520191" indent="-520191" defTabSz="825500">
              <a:lnSpc>
                <a:spcPct val="100000"/>
              </a:lnSpc>
              <a:spcBef>
                <a:spcPts val="0"/>
              </a:spcBef>
              <a:buSzPct val="123000"/>
              <a:buChar char="-"/>
              <a:defRPr sz="3200">
                <a:latin typeface="+mn-lt"/>
                <a:ea typeface="+mn-ea"/>
                <a:cs typeface="+mn-cs"/>
                <a:sym typeface="Helvetica"/>
              </a:defRPr>
            </a:pPr>
            <a:r>
              <a:t>Theft prevention - Computer Vision</a:t>
            </a:r>
          </a:p>
          <a:p>
            <a:pPr marL="520191" indent="-520191" defTabSz="825500">
              <a:lnSpc>
                <a:spcPct val="100000"/>
              </a:lnSpc>
              <a:spcBef>
                <a:spcPts val="0"/>
              </a:spcBef>
              <a:buSzPct val="123000"/>
              <a:buChar char="-"/>
              <a:defRPr sz="3200">
                <a:latin typeface="+mn-lt"/>
                <a:ea typeface="+mn-ea"/>
                <a:cs typeface="+mn-cs"/>
                <a:sym typeface="Helvetica"/>
              </a:defRPr>
            </a:pPr>
            <a:r>
              <a:t>Logistics</a:t>
            </a:r>
          </a:p>
        </p:txBody>
      </p:sp>
      <p:sp>
        <p:nvSpPr>
          <p:cNvPr id="196" name="Factories…"/>
          <p:cNvSpPr/>
          <p:nvPr/>
        </p:nvSpPr>
        <p:spPr>
          <a:xfrm>
            <a:off x="12713493" y="1186702"/>
            <a:ext cx="10928153" cy="4683126"/>
          </a:xfrm>
          <a:prstGeom prst="roundRect">
            <a:avLst>
              <a:gd name="adj" fmla="val 6663"/>
            </a:avLst>
          </a:prstGeom>
          <a:solidFill>
            <a:srgbClr val="60D937"/>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lnSpc>
                <a:spcPct val="100000"/>
              </a:lnSpc>
              <a:spcBef>
                <a:spcPts val="0"/>
              </a:spcBef>
              <a:defRPr b="1" sz="3200">
                <a:latin typeface="+mn-lt"/>
                <a:ea typeface="+mn-ea"/>
                <a:cs typeface="+mn-cs"/>
                <a:sym typeface="Helvetica"/>
              </a:defRPr>
            </a:pPr>
            <a:r>
              <a:t>Factories</a:t>
            </a:r>
          </a:p>
          <a:p>
            <a:pPr marL="520191" indent="-520191" defTabSz="825500">
              <a:lnSpc>
                <a:spcPct val="100000"/>
              </a:lnSpc>
              <a:spcBef>
                <a:spcPts val="0"/>
              </a:spcBef>
              <a:buSzPct val="123000"/>
              <a:buChar char="-"/>
              <a:defRPr sz="3200">
                <a:latin typeface="+mn-lt"/>
                <a:ea typeface="+mn-ea"/>
                <a:cs typeface="+mn-cs"/>
                <a:sym typeface="Helvetica"/>
              </a:defRPr>
            </a:pPr>
            <a:r>
              <a:t>Supervisory control and data acquisition (SCADA)</a:t>
            </a:r>
          </a:p>
          <a:p>
            <a:pPr marL="520191" indent="-520191" defTabSz="825500">
              <a:lnSpc>
                <a:spcPct val="100000"/>
              </a:lnSpc>
              <a:spcBef>
                <a:spcPts val="0"/>
              </a:spcBef>
              <a:buSzPct val="123000"/>
              <a:buChar char="-"/>
              <a:defRPr sz="3200">
                <a:latin typeface="+mn-lt"/>
                <a:ea typeface="+mn-ea"/>
                <a:cs typeface="+mn-cs"/>
                <a:sym typeface="Helvetica"/>
              </a:defRPr>
            </a:pPr>
            <a:r>
              <a:t>SCADA Intrusion Detection</a:t>
            </a:r>
          </a:p>
          <a:p>
            <a:pPr marL="520191" indent="-520191" defTabSz="825500">
              <a:lnSpc>
                <a:spcPct val="100000"/>
              </a:lnSpc>
              <a:spcBef>
                <a:spcPts val="0"/>
              </a:spcBef>
              <a:buSzPct val="123000"/>
              <a:buChar char="-"/>
              <a:defRPr sz="3200">
                <a:latin typeface="+mn-lt"/>
                <a:ea typeface="+mn-ea"/>
                <a:cs typeface="+mn-cs"/>
                <a:sym typeface="Helvetica"/>
              </a:defRPr>
            </a:pPr>
            <a:r>
              <a:t>Predictive Maintenance - Computer Vision</a:t>
            </a:r>
          </a:p>
          <a:p>
            <a:pPr marL="520191" indent="-520191" defTabSz="825500">
              <a:lnSpc>
                <a:spcPct val="100000"/>
              </a:lnSpc>
              <a:spcBef>
                <a:spcPts val="0"/>
              </a:spcBef>
              <a:buSzPct val="123000"/>
              <a:buChar char="-"/>
              <a:defRPr sz="3200">
                <a:latin typeface="+mn-lt"/>
                <a:ea typeface="+mn-ea"/>
                <a:cs typeface="+mn-cs"/>
                <a:sym typeface="Helvetica"/>
              </a:defRPr>
            </a:pPr>
            <a:r>
              <a:t>Quality Inspection - Computer Vision</a:t>
            </a:r>
          </a:p>
          <a:p>
            <a:pPr marL="520191" indent="-520191" defTabSz="825500">
              <a:lnSpc>
                <a:spcPct val="100000"/>
              </a:lnSpc>
              <a:spcBef>
                <a:spcPts val="0"/>
              </a:spcBef>
              <a:buSzPct val="123000"/>
              <a:buChar char="-"/>
              <a:defRPr sz="3200">
                <a:latin typeface="+mn-lt"/>
                <a:ea typeface="+mn-ea"/>
                <a:cs typeface="+mn-cs"/>
                <a:sym typeface="Helvetica"/>
              </a:defRPr>
            </a:pPr>
            <a:r>
              <a:t>Programable Logic Controller (PLC)</a:t>
            </a:r>
          </a:p>
          <a:p>
            <a:pPr marL="520191" indent="-520191" defTabSz="825500">
              <a:lnSpc>
                <a:spcPct val="100000"/>
              </a:lnSpc>
              <a:spcBef>
                <a:spcPts val="0"/>
              </a:spcBef>
              <a:buSzPct val="123000"/>
              <a:buChar char="-"/>
              <a:defRPr sz="3200">
                <a:latin typeface="+mn-lt"/>
                <a:ea typeface="+mn-ea"/>
                <a:cs typeface="+mn-cs"/>
                <a:sym typeface="Helvetica"/>
              </a:defRPr>
            </a:pPr>
            <a:r>
              <a:t>Physical security - Computer Vision</a:t>
            </a:r>
          </a:p>
        </p:txBody>
      </p:sp>
      <p:sp>
        <p:nvSpPr>
          <p:cNvPr id="197" name="Electricity Transmission Sub-stations…"/>
          <p:cNvSpPr/>
          <p:nvPr/>
        </p:nvSpPr>
        <p:spPr>
          <a:xfrm>
            <a:off x="12773719" y="8823632"/>
            <a:ext cx="10807701" cy="3965923"/>
          </a:xfrm>
          <a:prstGeom prst="roundRect">
            <a:avLst>
              <a:gd name="adj" fmla="val 7868"/>
            </a:avLst>
          </a:prstGeom>
          <a:solidFill>
            <a:srgbClr val="60D937"/>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lnSpc>
                <a:spcPct val="100000"/>
              </a:lnSpc>
              <a:spcBef>
                <a:spcPts val="0"/>
              </a:spcBef>
              <a:defRPr b="1" sz="3200">
                <a:latin typeface="+mn-lt"/>
                <a:ea typeface="+mn-ea"/>
                <a:cs typeface="+mn-cs"/>
                <a:sym typeface="Helvetica"/>
              </a:defRPr>
            </a:pPr>
            <a:r>
              <a:t>Electricity Transmission Sub-stations</a:t>
            </a:r>
          </a:p>
          <a:p>
            <a:pPr marL="520191" indent="-520191" defTabSz="825500">
              <a:lnSpc>
                <a:spcPct val="100000"/>
              </a:lnSpc>
              <a:spcBef>
                <a:spcPts val="0"/>
              </a:spcBef>
              <a:buSzPct val="123000"/>
              <a:buChar char="-"/>
              <a:defRPr sz="3200">
                <a:latin typeface="+mn-lt"/>
                <a:ea typeface="+mn-ea"/>
                <a:cs typeface="+mn-cs"/>
                <a:sym typeface="Helvetica"/>
              </a:defRPr>
            </a:pPr>
            <a:r>
              <a:t>Protection automation control (PAC)</a:t>
            </a:r>
          </a:p>
          <a:p>
            <a:pPr marL="520191" indent="-520191" defTabSz="825500">
              <a:lnSpc>
                <a:spcPct val="100000"/>
              </a:lnSpc>
              <a:spcBef>
                <a:spcPts val="0"/>
              </a:spcBef>
              <a:buSzPct val="123000"/>
              <a:buChar char="-"/>
              <a:defRPr sz="3200">
                <a:latin typeface="+mn-lt"/>
                <a:ea typeface="+mn-ea"/>
                <a:cs typeface="+mn-cs"/>
                <a:sym typeface="Helvetica"/>
              </a:defRPr>
            </a:pPr>
            <a:r>
              <a:t>Realtime overhead line telemetry processing</a:t>
            </a:r>
          </a:p>
          <a:p>
            <a:pPr marL="520191" indent="-520191" defTabSz="825500">
              <a:lnSpc>
                <a:spcPct val="100000"/>
              </a:lnSpc>
              <a:spcBef>
                <a:spcPts val="0"/>
              </a:spcBef>
              <a:buSzPct val="123000"/>
              <a:buChar char="-"/>
              <a:defRPr sz="3200">
                <a:latin typeface="+mn-lt"/>
                <a:ea typeface="+mn-ea"/>
                <a:cs typeface="+mn-cs"/>
                <a:sym typeface="Helvetica"/>
              </a:defRPr>
            </a:pPr>
            <a:r>
              <a:t>Intel­li­gent Elec­tron­ic Devices (IED)</a:t>
            </a:r>
          </a:p>
          <a:p>
            <a:pPr marL="520191" indent="-520191" defTabSz="825500">
              <a:lnSpc>
                <a:spcPct val="100000"/>
              </a:lnSpc>
              <a:spcBef>
                <a:spcPts val="0"/>
              </a:spcBef>
              <a:buSzPct val="123000"/>
              <a:buChar char="-"/>
              <a:defRPr sz="3200">
                <a:latin typeface="+mn-lt"/>
                <a:ea typeface="+mn-ea"/>
                <a:cs typeface="+mn-cs"/>
                <a:sym typeface="Helvetica"/>
              </a:defRPr>
            </a:pPr>
            <a:r>
              <a:t>Supervisory control and data acquisition (SCADA)</a:t>
            </a:r>
          </a:p>
          <a:p>
            <a:pPr marL="520191" indent="-520191" defTabSz="825500">
              <a:lnSpc>
                <a:spcPct val="100000"/>
              </a:lnSpc>
              <a:spcBef>
                <a:spcPts val="0"/>
              </a:spcBef>
              <a:buSzPct val="123000"/>
              <a:buChar char="-"/>
              <a:defRPr sz="3200">
                <a:latin typeface="+mn-lt"/>
                <a:ea typeface="+mn-ea"/>
                <a:cs typeface="+mn-cs"/>
                <a:sym typeface="Helvetica"/>
              </a:defRPr>
            </a:pPr>
            <a:r>
              <a:t>SCADA Intrusion Detection</a:t>
            </a:r>
          </a:p>
          <a:p>
            <a:pPr marL="520191" indent="-520191" defTabSz="825500">
              <a:lnSpc>
                <a:spcPct val="100000"/>
              </a:lnSpc>
              <a:spcBef>
                <a:spcPts val="0"/>
              </a:spcBef>
              <a:buSzPct val="123000"/>
              <a:buChar char="-"/>
              <a:defRPr sz="3200">
                <a:latin typeface="+mn-lt"/>
                <a:ea typeface="+mn-ea"/>
                <a:cs typeface="+mn-cs"/>
                <a:sym typeface="Helvetica"/>
              </a:defRPr>
            </a:pPr>
            <a:r>
              <a:t>Physical security - Computer Vision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ingle, or small number of nodes with resource constrained hardware.…"/>
          <p:cNvSpPr txBox="1"/>
          <p:nvPr>
            <p:ph type="body" sz="half" idx="1"/>
          </p:nvPr>
        </p:nvSpPr>
        <p:spPr>
          <a:prstGeom prst="rect">
            <a:avLst/>
          </a:prstGeom>
        </p:spPr>
        <p:txBody>
          <a:bodyPr/>
          <a:lstStyle/>
          <a:p>
            <a:pPr marL="0" indent="0">
              <a:buSzTx/>
              <a:buNone/>
              <a:defRPr>
                <a:latin typeface="+mn-lt"/>
                <a:ea typeface="+mn-ea"/>
                <a:cs typeface="+mn-cs"/>
                <a:sym typeface="Helvetica"/>
              </a:defRPr>
            </a:pPr>
            <a:r>
              <a:t>Single, or small number of nodes with resource constrained hardware.</a:t>
            </a:r>
          </a:p>
          <a:p>
            <a:pPr marL="0" indent="0">
              <a:buSzTx/>
              <a:buNone/>
              <a:defRPr>
                <a:latin typeface="+mn-lt"/>
                <a:ea typeface="+mn-ea"/>
                <a:cs typeface="+mn-cs"/>
                <a:sym typeface="Helvetica"/>
              </a:defRPr>
            </a:pPr>
            <a:r>
              <a:t>4/5G connectivity, SD-WAN.</a:t>
            </a:r>
          </a:p>
          <a:p>
            <a:pPr marL="0" indent="0">
              <a:buSzTx/>
              <a:buNone/>
              <a:defRPr>
                <a:latin typeface="+mn-lt"/>
                <a:ea typeface="+mn-ea"/>
                <a:cs typeface="+mn-cs"/>
                <a:sym typeface="Helvetica"/>
              </a:defRPr>
            </a:pPr>
            <a:r>
              <a:t>Optimised to run low latency applications.</a:t>
            </a:r>
          </a:p>
          <a:p>
            <a:pPr marL="0" indent="0">
              <a:buSzTx/>
              <a:buNone/>
              <a:defRPr>
                <a:latin typeface="+mn-lt"/>
                <a:ea typeface="+mn-ea"/>
                <a:cs typeface="+mn-cs"/>
                <a:sym typeface="Helvetica"/>
              </a:defRPr>
            </a:pPr>
            <a:r>
              <a:t>iGPU enabled Artificial Inteligence.</a:t>
            </a:r>
          </a:p>
        </p:txBody>
      </p:sp>
      <p:sp>
        <p:nvSpPr>
          <p:cNvPr id="202" name="Distributed Edge"/>
          <p:cNvSpPr txBox="1"/>
          <p:nvPr>
            <p:ph type="title"/>
          </p:nvPr>
        </p:nvSpPr>
        <p:spPr>
          <a:prstGeom prst="rect">
            <a:avLst/>
          </a:prstGeom>
        </p:spPr>
        <p:txBody>
          <a:bodyPr/>
          <a:lstStyle/>
          <a:p>
            <a:pPr/>
            <a:r>
              <a:t>Distributed Edge</a:t>
            </a:r>
          </a:p>
        </p:txBody>
      </p:sp>
      <p:sp>
        <p:nvSpPr>
          <p:cNvPr id="203" name="Retail…"/>
          <p:cNvSpPr/>
          <p:nvPr/>
        </p:nvSpPr>
        <p:spPr>
          <a:xfrm>
            <a:off x="12776200" y="1139130"/>
            <a:ext cx="10612140" cy="3055740"/>
          </a:xfrm>
          <a:prstGeom prst="roundRect">
            <a:avLst>
              <a:gd name="adj" fmla="val 11867"/>
            </a:avLst>
          </a:prstGeom>
          <a:solidFill>
            <a:schemeClr val="accent1"/>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lnSpc>
                <a:spcPct val="100000"/>
              </a:lnSpc>
              <a:spcBef>
                <a:spcPts val="0"/>
              </a:spcBef>
              <a:defRPr b="1" sz="3200">
                <a:latin typeface="+mn-lt"/>
                <a:ea typeface="+mn-ea"/>
                <a:cs typeface="+mn-cs"/>
                <a:sym typeface="Helvetica"/>
              </a:defRPr>
            </a:pPr>
            <a:r>
              <a:t>Retail</a:t>
            </a:r>
          </a:p>
          <a:p>
            <a:pPr marL="520191" indent="-520191" defTabSz="825500">
              <a:lnSpc>
                <a:spcPct val="100000"/>
              </a:lnSpc>
              <a:spcBef>
                <a:spcPts val="0"/>
              </a:spcBef>
              <a:buSzPct val="123000"/>
              <a:buChar char="-"/>
              <a:defRPr sz="3200">
                <a:latin typeface="+mn-lt"/>
                <a:ea typeface="+mn-ea"/>
                <a:cs typeface="+mn-cs"/>
                <a:sym typeface="Helvetica"/>
              </a:defRPr>
            </a:pPr>
            <a:r>
              <a:t>Point of Sale (PoS) - Computer Vision</a:t>
            </a:r>
          </a:p>
          <a:p>
            <a:pPr marL="520191" indent="-520191" defTabSz="825500">
              <a:lnSpc>
                <a:spcPct val="100000"/>
              </a:lnSpc>
              <a:spcBef>
                <a:spcPts val="0"/>
              </a:spcBef>
              <a:buSzPct val="123000"/>
              <a:buChar char="-"/>
              <a:defRPr sz="3200">
                <a:latin typeface="+mn-lt"/>
                <a:ea typeface="+mn-ea"/>
                <a:cs typeface="+mn-cs"/>
                <a:sym typeface="Helvetica"/>
              </a:defRPr>
            </a:pPr>
            <a:r>
              <a:t>Theft prevention - Computer Vision</a:t>
            </a:r>
          </a:p>
          <a:p>
            <a:pPr marL="520191" indent="-520191" defTabSz="825500">
              <a:lnSpc>
                <a:spcPct val="100000"/>
              </a:lnSpc>
              <a:spcBef>
                <a:spcPts val="0"/>
              </a:spcBef>
              <a:buSzPct val="123000"/>
              <a:buChar char="-"/>
              <a:defRPr sz="3200">
                <a:latin typeface="+mn-lt"/>
                <a:ea typeface="+mn-ea"/>
                <a:cs typeface="+mn-cs"/>
                <a:sym typeface="Helvetica"/>
              </a:defRPr>
            </a:pPr>
            <a:r>
              <a:t>Quality Inspection - Computer Vision </a:t>
            </a:r>
          </a:p>
          <a:p>
            <a:pPr marL="520191" indent="-520191" defTabSz="825500">
              <a:lnSpc>
                <a:spcPct val="100000"/>
              </a:lnSpc>
              <a:spcBef>
                <a:spcPts val="0"/>
              </a:spcBef>
              <a:buSzPct val="123000"/>
              <a:buChar char="-"/>
              <a:defRPr sz="3200">
                <a:latin typeface="+mn-lt"/>
                <a:ea typeface="+mn-ea"/>
                <a:cs typeface="+mn-cs"/>
                <a:sym typeface="Helvetica"/>
              </a:defRPr>
            </a:pPr>
            <a:r>
              <a:t>Inventory management</a:t>
            </a:r>
          </a:p>
        </p:txBody>
      </p:sp>
      <p:sp>
        <p:nvSpPr>
          <p:cNvPr id="204" name="Vehicles / ships…"/>
          <p:cNvSpPr/>
          <p:nvPr/>
        </p:nvSpPr>
        <p:spPr>
          <a:xfrm>
            <a:off x="12776200" y="4571404"/>
            <a:ext cx="10612140" cy="2266545"/>
          </a:xfrm>
          <a:prstGeom prst="roundRect">
            <a:avLst>
              <a:gd name="adj" fmla="val 15760"/>
            </a:avLst>
          </a:prstGeom>
          <a:solidFill>
            <a:schemeClr val="accent1"/>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lnSpc>
                <a:spcPct val="100000"/>
              </a:lnSpc>
              <a:spcBef>
                <a:spcPts val="0"/>
              </a:spcBef>
              <a:defRPr b="1" sz="3200">
                <a:latin typeface="+mn-lt"/>
                <a:ea typeface="+mn-ea"/>
                <a:cs typeface="+mn-cs"/>
                <a:sym typeface="Helvetica"/>
              </a:defRPr>
            </a:pPr>
            <a:r>
              <a:t>Vehicles / ships</a:t>
            </a:r>
          </a:p>
          <a:p>
            <a:pPr marL="520191" indent="-520191" defTabSz="825500">
              <a:lnSpc>
                <a:spcPct val="100000"/>
              </a:lnSpc>
              <a:spcBef>
                <a:spcPts val="0"/>
              </a:spcBef>
              <a:buSzPct val="123000"/>
              <a:buChar char="-"/>
              <a:defRPr sz="3200">
                <a:latin typeface="+mn-lt"/>
                <a:ea typeface="+mn-ea"/>
                <a:cs typeface="+mn-cs"/>
                <a:sym typeface="Helvetica"/>
              </a:defRPr>
            </a:pPr>
            <a:r>
              <a:t>Predictive Maintenance - Computer Vision</a:t>
            </a:r>
          </a:p>
          <a:p>
            <a:pPr marL="520191" indent="-520191" defTabSz="825500">
              <a:lnSpc>
                <a:spcPct val="100000"/>
              </a:lnSpc>
              <a:spcBef>
                <a:spcPts val="0"/>
              </a:spcBef>
              <a:buSzPct val="123000"/>
              <a:buChar char="-"/>
              <a:defRPr sz="3200">
                <a:latin typeface="+mn-lt"/>
                <a:ea typeface="+mn-ea"/>
                <a:cs typeface="+mn-cs"/>
                <a:sym typeface="Helvetica"/>
              </a:defRPr>
            </a:pPr>
            <a:r>
              <a:t>Physical security - Computer Vision</a:t>
            </a:r>
          </a:p>
        </p:txBody>
      </p:sp>
      <p:sp>
        <p:nvSpPr>
          <p:cNvPr id="205" name="Intelligent Battlefields…"/>
          <p:cNvSpPr/>
          <p:nvPr/>
        </p:nvSpPr>
        <p:spPr>
          <a:xfrm>
            <a:off x="12827000" y="7139022"/>
            <a:ext cx="10612140" cy="2719309"/>
          </a:xfrm>
          <a:prstGeom prst="roundRect">
            <a:avLst>
              <a:gd name="adj" fmla="val 11475"/>
            </a:avLst>
          </a:prstGeom>
          <a:solidFill>
            <a:schemeClr val="accent1"/>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lnSpc>
                <a:spcPct val="100000"/>
              </a:lnSpc>
              <a:spcBef>
                <a:spcPts val="0"/>
              </a:spcBef>
              <a:defRPr b="1" sz="3200">
                <a:latin typeface="+mn-lt"/>
                <a:ea typeface="+mn-ea"/>
                <a:cs typeface="+mn-cs"/>
                <a:sym typeface="Helvetica"/>
              </a:defRPr>
            </a:pPr>
            <a:r>
              <a:t>Intelligent Battlefields</a:t>
            </a:r>
          </a:p>
          <a:p>
            <a:pPr marL="520191" indent="-520191" defTabSz="825500">
              <a:lnSpc>
                <a:spcPct val="100000"/>
              </a:lnSpc>
              <a:spcBef>
                <a:spcPts val="0"/>
              </a:spcBef>
              <a:buSzPct val="123000"/>
              <a:buChar char="-"/>
              <a:defRPr sz="3200">
                <a:latin typeface="+mn-lt"/>
                <a:ea typeface="+mn-ea"/>
                <a:cs typeface="+mn-cs"/>
                <a:sym typeface="Helvetica"/>
              </a:defRPr>
            </a:pPr>
            <a:r>
              <a:t>Armoured vehicles</a:t>
            </a:r>
          </a:p>
          <a:p>
            <a:pPr marL="520191" indent="-520191" defTabSz="825500">
              <a:lnSpc>
                <a:spcPct val="100000"/>
              </a:lnSpc>
              <a:spcBef>
                <a:spcPts val="0"/>
              </a:spcBef>
              <a:buSzPct val="123000"/>
              <a:buChar char="-"/>
              <a:defRPr sz="3200">
                <a:latin typeface="+mn-lt"/>
                <a:ea typeface="+mn-ea"/>
                <a:cs typeface="+mn-cs"/>
                <a:sym typeface="Helvetica"/>
              </a:defRPr>
            </a:pPr>
            <a:r>
              <a:t>Signals intelligence</a:t>
            </a:r>
          </a:p>
          <a:p>
            <a:pPr marL="520191" indent="-520191" defTabSz="825500">
              <a:lnSpc>
                <a:spcPct val="100000"/>
              </a:lnSpc>
              <a:spcBef>
                <a:spcPts val="0"/>
              </a:spcBef>
              <a:buSzPct val="123000"/>
              <a:buChar char="-"/>
              <a:defRPr sz="3200">
                <a:latin typeface="+mn-lt"/>
                <a:ea typeface="+mn-ea"/>
                <a:cs typeface="+mn-cs"/>
                <a:sym typeface="Helvetica"/>
              </a:defRPr>
            </a:pPr>
            <a:r>
              <a:t>Telemetry processing</a:t>
            </a:r>
          </a:p>
          <a:p>
            <a:pPr marL="520191" indent="-520191" defTabSz="825500">
              <a:lnSpc>
                <a:spcPct val="100000"/>
              </a:lnSpc>
              <a:spcBef>
                <a:spcPts val="0"/>
              </a:spcBef>
              <a:buSzPct val="123000"/>
              <a:buChar char="-"/>
              <a:defRPr sz="3200">
                <a:latin typeface="+mn-lt"/>
                <a:ea typeface="+mn-ea"/>
                <a:cs typeface="+mn-cs"/>
                <a:sym typeface="Helvetica"/>
              </a:defRPr>
            </a:pPr>
            <a:r>
              <a:t>Drone operation</a:t>
            </a:r>
          </a:p>
        </p:txBody>
      </p:sp>
      <p:sp>
        <p:nvSpPr>
          <p:cNvPr id="206" name="Electricity Distribution Sub-station…"/>
          <p:cNvSpPr/>
          <p:nvPr/>
        </p:nvSpPr>
        <p:spPr>
          <a:xfrm>
            <a:off x="12827000" y="10159404"/>
            <a:ext cx="10612140" cy="2925466"/>
          </a:xfrm>
          <a:prstGeom prst="roundRect">
            <a:avLst>
              <a:gd name="adj" fmla="val 10666"/>
            </a:avLst>
          </a:prstGeom>
          <a:solidFill>
            <a:schemeClr val="accent1"/>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defTabSz="825500">
              <a:lnSpc>
                <a:spcPct val="100000"/>
              </a:lnSpc>
              <a:spcBef>
                <a:spcPts val="0"/>
              </a:spcBef>
              <a:defRPr b="1" sz="3200">
                <a:latin typeface="+mn-lt"/>
                <a:ea typeface="+mn-ea"/>
                <a:cs typeface="+mn-cs"/>
                <a:sym typeface="Helvetica"/>
              </a:defRPr>
            </a:pPr>
            <a:r>
              <a:t>Electricity Distribution Sub-station</a:t>
            </a:r>
          </a:p>
          <a:p>
            <a:pPr marL="520191" indent="-520191" defTabSz="825500">
              <a:lnSpc>
                <a:spcPct val="100000"/>
              </a:lnSpc>
              <a:spcBef>
                <a:spcPts val="0"/>
              </a:spcBef>
              <a:buSzPct val="123000"/>
              <a:buChar char="-"/>
              <a:defRPr sz="3200">
                <a:latin typeface="+mn-lt"/>
                <a:ea typeface="+mn-ea"/>
                <a:cs typeface="+mn-cs"/>
                <a:sym typeface="Helvetica"/>
              </a:defRPr>
            </a:pPr>
            <a:r>
              <a:t>Protection automation control (PAC)</a:t>
            </a:r>
          </a:p>
          <a:p>
            <a:pPr marL="520191" indent="-520191" defTabSz="825500">
              <a:lnSpc>
                <a:spcPct val="100000"/>
              </a:lnSpc>
              <a:spcBef>
                <a:spcPts val="0"/>
              </a:spcBef>
              <a:buSzPct val="123000"/>
              <a:buChar char="-"/>
              <a:defRPr sz="3200">
                <a:latin typeface="+mn-lt"/>
                <a:ea typeface="+mn-ea"/>
                <a:cs typeface="+mn-cs"/>
                <a:sym typeface="Helvetica"/>
              </a:defRPr>
            </a:pPr>
            <a:r>
              <a:t>Intel­li­gent Elec­tron­ic Devices (IED)</a:t>
            </a:r>
          </a:p>
          <a:p>
            <a:pPr marL="520191" indent="-520191" defTabSz="825500">
              <a:lnSpc>
                <a:spcPct val="100000"/>
              </a:lnSpc>
              <a:spcBef>
                <a:spcPts val="0"/>
              </a:spcBef>
              <a:buSzPct val="123000"/>
              <a:buChar char="-"/>
              <a:defRPr sz="3200">
                <a:latin typeface="+mn-lt"/>
                <a:ea typeface="+mn-ea"/>
                <a:cs typeface="+mn-cs"/>
                <a:sym typeface="Helvetica"/>
              </a:defRPr>
            </a:pPr>
            <a:r>
              <a:t>Physical security - Computer Vision</a:t>
            </a:r>
          </a:p>
          <a:p>
            <a:pPr marL="520191" indent="-520191" defTabSz="825500">
              <a:lnSpc>
                <a:spcPct val="100000"/>
              </a:lnSpc>
              <a:spcBef>
                <a:spcPts val="0"/>
              </a:spcBef>
              <a:buSzPct val="123000"/>
              <a:buChar char="-"/>
              <a:defRPr sz="3200">
                <a:latin typeface="+mn-lt"/>
                <a:ea typeface="+mn-ea"/>
                <a:cs typeface="+mn-cs"/>
                <a:sym typeface="Helvetica"/>
              </a:defRPr>
            </a:pPr>
            <a:r>
              <a:t>Worker Safety - Computer Vision</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Wind Turbines Predictive Maintenance"/>
          <p:cNvSpPr txBox="1"/>
          <p:nvPr>
            <p:ph type="title"/>
          </p:nvPr>
        </p:nvSpPr>
        <p:spPr>
          <a:prstGeom prst="rect">
            <a:avLst/>
          </a:prstGeom>
        </p:spPr>
        <p:txBody>
          <a:bodyPr/>
          <a:lstStyle/>
          <a:p>
            <a:pPr/>
            <a:r>
              <a:t>Wind Turbines Predictive Maintenance </a:t>
            </a:r>
          </a:p>
        </p:txBody>
      </p:sp>
      <p:sp>
        <p:nvSpPr>
          <p:cNvPr id="211" name="Group"/>
          <p:cNvSpPr txBox="1"/>
          <p:nvPr/>
        </p:nvSpPr>
        <p:spPr>
          <a:xfrm>
            <a:off x="1329978" y="2709997"/>
            <a:ext cx="20550981" cy="46736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p>
            <a:pPr marL="444500" indent="-444500">
              <a:spcBef>
                <a:spcPts val="400"/>
              </a:spcBef>
              <a:buSzPct val="123000"/>
              <a:buChar char="•"/>
              <a:defRPr sz="3500">
                <a:latin typeface="+mn-lt"/>
                <a:ea typeface="+mn-ea"/>
                <a:cs typeface="+mn-cs"/>
                <a:sym typeface="Helvetica"/>
              </a:defRPr>
            </a:pPr>
            <a:r>
              <a:t>72,000+ turbines</a:t>
            </a:r>
          </a:p>
          <a:p>
            <a:pPr lvl="1" marL="1054100" indent="-444500">
              <a:spcBef>
                <a:spcPts val="400"/>
              </a:spcBef>
              <a:buSzPct val="123000"/>
              <a:buChar char="•"/>
              <a:defRPr sz="3500">
                <a:latin typeface="+mn-lt"/>
                <a:ea typeface="+mn-ea"/>
                <a:cs typeface="+mn-cs"/>
                <a:sym typeface="Helvetica"/>
              </a:defRPr>
            </a:pPr>
            <a:r>
              <a:t>Management at scale</a:t>
            </a:r>
          </a:p>
          <a:p>
            <a:pPr lvl="1" marL="1054100" indent="-444500">
              <a:spcBef>
                <a:spcPts val="400"/>
              </a:spcBef>
              <a:buSzPct val="123000"/>
              <a:buChar char="•"/>
              <a:defRPr sz="3500">
                <a:latin typeface="+mn-lt"/>
                <a:ea typeface="+mn-ea"/>
                <a:cs typeface="+mn-cs"/>
                <a:sym typeface="Helvetica"/>
              </a:defRPr>
            </a:pPr>
            <a:r>
              <a:t>Observability at scale</a:t>
            </a:r>
          </a:p>
          <a:p>
            <a:pPr lvl="1" marL="1054100" indent="-444500">
              <a:spcBef>
                <a:spcPts val="400"/>
              </a:spcBef>
              <a:buSzPct val="123000"/>
              <a:buChar char="•"/>
              <a:defRPr sz="3500">
                <a:latin typeface="+mn-lt"/>
                <a:ea typeface="+mn-ea"/>
                <a:cs typeface="+mn-cs"/>
                <a:sym typeface="Helvetica"/>
              </a:defRPr>
            </a:pPr>
            <a:r>
              <a:t>Low cost commodity hardware</a:t>
            </a:r>
          </a:p>
          <a:p>
            <a:pPr marL="444500" indent="-444500">
              <a:spcBef>
                <a:spcPts val="400"/>
              </a:spcBef>
              <a:buSzPct val="123000"/>
              <a:buChar char="•"/>
              <a:defRPr sz="3500">
                <a:latin typeface="+mn-lt"/>
                <a:ea typeface="+mn-ea"/>
                <a:cs typeface="+mn-cs"/>
                <a:sym typeface="Helvetica"/>
              </a:defRPr>
            </a:pPr>
            <a:r>
              <a:t>Consistent infrastructure deployment and configuration</a:t>
            </a:r>
          </a:p>
          <a:p>
            <a:pPr marL="444500" indent="-444500">
              <a:spcBef>
                <a:spcPts val="400"/>
              </a:spcBef>
              <a:buSzPct val="123000"/>
              <a:buChar char="•"/>
              <a:defRPr sz="3500">
                <a:latin typeface="+mn-lt"/>
                <a:ea typeface="+mn-ea"/>
                <a:cs typeface="+mn-cs"/>
                <a:sym typeface="Helvetica"/>
              </a:defRPr>
            </a:pPr>
            <a:r>
              <a:t>Rapid, consistent iteration and delivery of computer vision inference models</a:t>
            </a:r>
          </a:p>
          <a:p>
            <a:pPr marL="444500" indent="-444500">
              <a:spcBef>
                <a:spcPts val="400"/>
              </a:spcBef>
              <a:buSzPct val="123000"/>
              <a:buChar char="•"/>
              <a:defRPr sz="3500">
                <a:latin typeface="+mn-lt"/>
                <a:ea typeface="+mn-ea"/>
                <a:cs typeface="+mn-cs"/>
                <a:sym typeface="Helvetica"/>
              </a:defRPr>
            </a:pPr>
            <a:r>
              <a:t>Automated, zero touch provisioning</a:t>
            </a:r>
          </a:p>
          <a:p>
            <a:pPr marL="444500" indent="-444500">
              <a:spcBef>
                <a:spcPts val="400"/>
              </a:spcBef>
              <a:buSzPct val="123000"/>
              <a:buChar char="•"/>
              <a:defRPr sz="3500">
                <a:latin typeface="+mn-lt"/>
                <a:ea typeface="+mn-ea"/>
                <a:cs typeface="+mn-cs"/>
                <a:sym typeface="Helvetica"/>
              </a:defRPr>
            </a:pPr>
            <a:r>
              <a:t>Secure 5G connectivity</a:t>
            </a:r>
          </a:p>
        </p:txBody>
      </p:sp>
      <p:grpSp>
        <p:nvGrpSpPr>
          <p:cNvPr id="233" name="Group"/>
          <p:cNvGrpSpPr/>
          <p:nvPr/>
        </p:nvGrpSpPr>
        <p:grpSpPr>
          <a:xfrm>
            <a:off x="1962953" y="7832322"/>
            <a:ext cx="20458095" cy="5489086"/>
            <a:chOff x="0" y="0"/>
            <a:chExt cx="20458094" cy="5489085"/>
          </a:xfrm>
        </p:grpSpPr>
        <p:pic>
          <p:nvPicPr>
            <p:cNvPr id="212" name="pasted-movie.png" descr="pasted-movie.png"/>
            <p:cNvPicPr>
              <a:picLocks noChangeAspect="1"/>
            </p:cNvPicPr>
            <p:nvPr/>
          </p:nvPicPr>
          <p:blipFill>
            <a:blip r:embed="rId3">
              <a:extLst/>
            </a:blip>
            <a:stretch>
              <a:fillRect/>
            </a:stretch>
          </p:blipFill>
          <p:spPr>
            <a:xfrm>
              <a:off x="1986339" y="1021746"/>
              <a:ext cx="1795613" cy="1795612"/>
            </a:xfrm>
            <a:prstGeom prst="rect">
              <a:avLst/>
            </a:prstGeom>
            <a:ln w="12700" cap="flat">
              <a:noFill/>
              <a:miter lim="400000"/>
            </a:ln>
            <a:effectLst/>
          </p:spPr>
        </p:pic>
        <p:pic>
          <p:nvPicPr>
            <p:cNvPr id="213" name="pasted-movie.png" descr="pasted-movie.png"/>
            <p:cNvPicPr>
              <a:picLocks noChangeAspect="1"/>
            </p:cNvPicPr>
            <p:nvPr/>
          </p:nvPicPr>
          <p:blipFill>
            <a:blip r:embed="rId3">
              <a:extLst/>
            </a:blip>
            <a:stretch>
              <a:fillRect/>
            </a:stretch>
          </p:blipFill>
          <p:spPr>
            <a:xfrm>
              <a:off x="1986339" y="3155346"/>
              <a:ext cx="1795613" cy="1795612"/>
            </a:xfrm>
            <a:prstGeom prst="rect">
              <a:avLst/>
            </a:prstGeom>
            <a:ln w="12700" cap="flat">
              <a:noFill/>
              <a:miter lim="400000"/>
            </a:ln>
            <a:effectLst/>
          </p:spPr>
        </p:pic>
        <p:sp>
          <p:nvSpPr>
            <p:cNvPr id="214" name="Thermal imaging camera"/>
            <p:cNvSpPr txBox="1"/>
            <p:nvPr/>
          </p:nvSpPr>
          <p:spPr>
            <a:xfrm>
              <a:off x="30641" y="1246451"/>
              <a:ext cx="2231284" cy="1346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2900">
                  <a:solidFill>
                    <a:schemeClr val="accent1">
                      <a:hueOff val="114395"/>
                      <a:lumOff val="-24975"/>
                    </a:schemeClr>
                  </a:solidFill>
                  <a:latin typeface="+mn-lt"/>
                  <a:ea typeface="+mn-ea"/>
                  <a:cs typeface="+mn-cs"/>
                  <a:sym typeface="Helvetica"/>
                </a:defRPr>
              </a:lvl1pPr>
            </a:lstStyle>
            <a:p>
              <a:pPr/>
              <a:r>
                <a:t>Thermal imaging camera</a:t>
              </a:r>
            </a:p>
          </p:txBody>
        </p:sp>
        <p:sp>
          <p:nvSpPr>
            <p:cNvPr id="215" name="Camera"/>
            <p:cNvSpPr txBox="1"/>
            <p:nvPr/>
          </p:nvSpPr>
          <p:spPr>
            <a:xfrm>
              <a:off x="30641" y="3780101"/>
              <a:ext cx="2231284" cy="546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2900">
                  <a:solidFill>
                    <a:schemeClr val="accent1">
                      <a:hueOff val="114395"/>
                      <a:lumOff val="-24975"/>
                    </a:schemeClr>
                  </a:solidFill>
                  <a:latin typeface="+mn-lt"/>
                  <a:ea typeface="+mn-ea"/>
                  <a:cs typeface="+mn-cs"/>
                  <a:sym typeface="Helvetica"/>
                </a:defRPr>
              </a:lvl1pPr>
            </a:lstStyle>
            <a:p>
              <a:pPr/>
              <a:r>
                <a:t>Camera</a:t>
              </a:r>
            </a:p>
          </p:txBody>
        </p:sp>
        <p:sp>
          <p:nvSpPr>
            <p:cNvPr id="216" name="Inference engine"/>
            <p:cNvSpPr/>
            <p:nvPr/>
          </p:nvSpPr>
          <p:spPr>
            <a:xfrm>
              <a:off x="8085408" y="2205418"/>
              <a:ext cx="3488036" cy="1270001"/>
            </a:xfrm>
            <a:prstGeom prst="rect">
              <a:avLst/>
            </a:prstGeom>
            <a:noFill/>
            <a:ln w="635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Inference engine</a:t>
              </a:r>
            </a:p>
          </p:txBody>
        </p:sp>
        <p:sp>
          <p:nvSpPr>
            <p:cNvPr id="217" name="PLC Turbine Control"/>
            <p:cNvSpPr/>
            <p:nvPr/>
          </p:nvSpPr>
          <p:spPr>
            <a:xfrm>
              <a:off x="8085408" y="3717369"/>
              <a:ext cx="3488036" cy="1270001"/>
            </a:xfrm>
            <a:prstGeom prst="rect">
              <a:avLst/>
            </a:prstGeom>
            <a:noFill/>
            <a:ln w="635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PLC Turbine Control</a:t>
              </a:r>
            </a:p>
          </p:txBody>
        </p:sp>
        <p:sp>
          <p:nvSpPr>
            <p:cNvPr id="218" name="Event Trigger"/>
            <p:cNvSpPr/>
            <p:nvPr/>
          </p:nvSpPr>
          <p:spPr>
            <a:xfrm>
              <a:off x="12195665" y="2800035"/>
              <a:ext cx="3488036" cy="2135875"/>
            </a:xfrm>
            <a:prstGeom prst="rect">
              <a:avLst/>
            </a:prstGeom>
            <a:noFill/>
            <a:ln w="635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Event Trigger</a:t>
              </a:r>
            </a:p>
          </p:txBody>
        </p:sp>
        <p:sp>
          <p:nvSpPr>
            <p:cNvPr id="219" name="Stream capture and pre-process"/>
            <p:cNvSpPr/>
            <p:nvPr/>
          </p:nvSpPr>
          <p:spPr>
            <a:xfrm>
              <a:off x="3975151" y="1003106"/>
              <a:ext cx="3488036" cy="3987581"/>
            </a:xfrm>
            <a:prstGeom prst="rect">
              <a:avLst/>
            </a:prstGeom>
            <a:noFill/>
            <a:ln w="635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Stream capture and pre-process</a:t>
              </a:r>
            </a:p>
          </p:txBody>
        </p:sp>
        <p:sp>
          <p:nvSpPr>
            <p:cNvPr id="220" name="Line"/>
            <p:cNvSpPr/>
            <p:nvPr/>
          </p:nvSpPr>
          <p:spPr>
            <a:xfrm>
              <a:off x="7496981" y="2815935"/>
              <a:ext cx="595339" cy="1"/>
            </a:xfrm>
            <a:prstGeom prst="line">
              <a:avLst/>
            </a:prstGeom>
            <a:noFill/>
            <a:ln w="254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sp>
          <p:nvSpPr>
            <p:cNvPr id="221" name="Line"/>
            <p:cNvSpPr/>
            <p:nvPr/>
          </p:nvSpPr>
          <p:spPr>
            <a:xfrm>
              <a:off x="11570254" y="3130708"/>
              <a:ext cx="658507" cy="1"/>
            </a:xfrm>
            <a:prstGeom prst="line">
              <a:avLst/>
            </a:prstGeom>
            <a:noFill/>
            <a:ln w="254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sp>
          <p:nvSpPr>
            <p:cNvPr id="222" name="Line"/>
            <p:cNvSpPr/>
            <p:nvPr/>
          </p:nvSpPr>
          <p:spPr>
            <a:xfrm flipH="1">
              <a:off x="11570254" y="4352369"/>
              <a:ext cx="595339" cy="1"/>
            </a:xfrm>
            <a:prstGeom prst="line">
              <a:avLst/>
            </a:prstGeom>
            <a:noFill/>
            <a:ln w="254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sp>
          <p:nvSpPr>
            <p:cNvPr id="223" name="Model Training Service"/>
            <p:cNvSpPr/>
            <p:nvPr/>
          </p:nvSpPr>
          <p:spPr>
            <a:xfrm>
              <a:off x="16970058" y="1003106"/>
              <a:ext cx="3488036" cy="2028674"/>
            </a:xfrm>
            <a:prstGeom prst="rect">
              <a:avLst/>
            </a:prstGeom>
            <a:noFill/>
            <a:ln w="635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Model Training Service</a:t>
              </a:r>
            </a:p>
          </p:txBody>
        </p:sp>
        <p:sp>
          <p:nvSpPr>
            <p:cNvPr id="224" name="Line"/>
            <p:cNvSpPr/>
            <p:nvPr/>
          </p:nvSpPr>
          <p:spPr>
            <a:xfrm>
              <a:off x="7496981" y="1487690"/>
              <a:ext cx="9439284" cy="1"/>
            </a:xfrm>
            <a:prstGeom prst="line">
              <a:avLst/>
            </a:prstGeom>
            <a:noFill/>
            <a:ln w="254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sp>
          <p:nvSpPr>
            <p:cNvPr id="225" name="Line"/>
            <p:cNvSpPr/>
            <p:nvPr/>
          </p:nvSpPr>
          <p:spPr>
            <a:xfrm flipH="1" flipV="1">
              <a:off x="11570254" y="2519066"/>
              <a:ext cx="5368235" cy="1"/>
            </a:xfrm>
            <a:prstGeom prst="line">
              <a:avLst/>
            </a:prstGeom>
            <a:noFill/>
            <a:ln w="254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sp>
          <p:nvSpPr>
            <p:cNvPr id="226" name="Control Center"/>
            <p:cNvSpPr/>
            <p:nvPr/>
          </p:nvSpPr>
          <p:spPr>
            <a:xfrm>
              <a:off x="16970058" y="3338032"/>
              <a:ext cx="3488036" cy="1732113"/>
            </a:xfrm>
            <a:prstGeom prst="rect">
              <a:avLst/>
            </a:prstGeom>
            <a:noFill/>
            <a:ln w="63500" cap="flat">
              <a:solidFill>
                <a:schemeClr val="accent1">
                  <a:hueOff val="114395"/>
                  <a:lumOff val="-24975"/>
                </a:schemeClr>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Control Center</a:t>
              </a:r>
            </a:p>
          </p:txBody>
        </p:sp>
        <p:sp>
          <p:nvSpPr>
            <p:cNvPr id="227" name="Line"/>
            <p:cNvSpPr/>
            <p:nvPr/>
          </p:nvSpPr>
          <p:spPr>
            <a:xfrm>
              <a:off x="15699857" y="4204088"/>
              <a:ext cx="1230222" cy="1"/>
            </a:xfrm>
            <a:prstGeom prst="line">
              <a:avLst/>
            </a:prstGeom>
            <a:noFill/>
            <a:ln w="254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sp>
          <p:nvSpPr>
            <p:cNvPr id="228" name="Line"/>
            <p:cNvSpPr/>
            <p:nvPr/>
          </p:nvSpPr>
          <p:spPr>
            <a:xfrm flipV="1">
              <a:off x="16314968" y="257726"/>
              <a:ext cx="1" cy="5231360"/>
            </a:xfrm>
            <a:prstGeom prst="line">
              <a:avLst/>
            </a:prstGeom>
            <a:noFill/>
            <a:ln w="38100" cap="flat">
              <a:solidFill>
                <a:srgbClr val="000000"/>
              </a:solidFill>
              <a:custDash>
                <a:ds d="200000" sp="200000"/>
              </a:custDash>
              <a:miter lim="400000"/>
            </a:ln>
            <a:effectLst/>
          </p:spPr>
          <p:txBody>
            <a:bodyPr wrap="square" lIns="50800" tIns="50800" rIns="50800" bIns="50800" numCol="1" anchor="ctr">
              <a:noAutofit/>
            </a:bodyPr>
            <a:lstStyle/>
            <a:p>
              <a:pPr/>
            </a:p>
          </p:txBody>
        </p:sp>
        <p:sp>
          <p:nvSpPr>
            <p:cNvPr id="229" name="Cloud"/>
            <p:cNvSpPr txBox="1"/>
            <p:nvPr/>
          </p:nvSpPr>
          <p:spPr>
            <a:xfrm>
              <a:off x="16791320" y="38371"/>
              <a:ext cx="1740105"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a:solidFill>
                    <a:schemeClr val="accent1">
                      <a:hueOff val="114395"/>
                      <a:lumOff val="-24975"/>
                    </a:schemeClr>
                  </a:solidFill>
                </a:defRPr>
              </a:lvl1pPr>
            </a:lstStyle>
            <a:p>
              <a:pPr/>
              <a:r>
                <a:t>Cloud</a:t>
              </a:r>
            </a:p>
          </p:txBody>
        </p:sp>
        <p:sp>
          <p:nvSpPr>
            <p:cNvPr id="230" name="Line"/>
            <p:cNvSpPr/>
            <p:nvPr/>
          </p:nvSpPr>
          <p:spPr>
            <a:xfrm flipV="1">
              <a:off x="18677168" y="442586"/>
              <a:ext cx="1740104" cy="1"/>
            </a:xfrm>
            <a:prstGeom prst="line">
              <a:avLst/>
            </a:prstGeom>
            <a:noFill/>
            <a:ln w="1397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sp>
          <p:nvSpPr>
            <p:cNvPr id="231" name="Wind Turbine"/>
            <p:cNvSpPr txBox="1"/>
            <p:nvPr/>
          </p:nvSpPr>
          <p:spPr>
            <a:xfrm>
              <a:off x="12331891" y="0"/>
              <a:ext cx="3682899"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a:solidFill>
                    <a:schemeClr val="accent1">
                      <a:hueOff val="114395"/>
                      <a:lumOff val="-24975"/>
                    </a:schemeClr>
                  </a:solidFill>
                </a:defRPr>
              </a:lvl1pPr>
            </a:lstStyle>
            <a:p>
              <a:pPr/>
              <a:r>
                <a:t>Wind Turbine</a:t>
              </a:r>
            </a:p>
          </p:txBody>
        </p:sp>
        <p:sp>
          <p:nvSpPr>
            <p:cNvPr id="232" name="Line"/>
            <p:cNvSpPr/>
            <p:nvPr/>
          </p:nvSpPr>
          <p:spPr>
            <a:xfrm flipH="1" flipV="1">
              <a:off x="-1" y="404215"/>
              <a:ext cx="12232173" cy="1"/>
            </a:xfrm>
            <a:prstGeom prst="line">
              <a:avLst/>
            </a:prstGeom>
            <a:noFill/>
            <a:ln w="139700" cap="flat">
              <a:solidFill>
                <a:schemeClr val="accent1">
                  <a:hueOff val="114395"/>
                  <a:lumOff val="-24975"/>
                </a:schemeClr>
              </a:solidFill>
              <a:prstDash val="solid"/>
              <a:miter lim="400000"/>
              <a:tailEnd type="triangle" w="med" len="med"/>
            </a:ln>
            <a:effectLst/>
          </p:spPr>
          <p:txBody>
            <a:bodyPr wrap="square" lIns="50800" tIns="50800" rIns="50800" bIns="50800" numCol="1" anchor="ctr">
              <a:noAutofit/>
            </a:bodyPr>
            <a:lstStyle/>
            <a:p>
              <a:pPr/>
            </a:p>
          </p:txBody>
        </p:sp>
      </p:gr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Why data processing at the edge?"/>
          <p:cNvSpPr txBox="1"/>
          <p:nvPr>
            <p:ph type="title"/>
          </p:nvPr>
        </p:nvSpPr>
        <p:spPr>
          <a:prstGeom prst="rect">
            <a:avLst/>
          </a:prstGeom>
        </p:spPr>
        <p:txBody>
          <a:bodyPr/>
          <a:lstStyle/>
          <a:p>
            <a:pPr/>
            <a:r>
              <a:t>Why data processing at the edge?</a:t>
            </a:r>
          </a:p>
        </p:txBody>
      </p:sp>
      <p:sp>
        <p:nvSpPr>
          <p:cNvPr id="238" name="Real-time decision making…"/>
          <p:cNvSpPr txBox="1"/>
          <p:nvPr>
            <p:ph type="body" sz="half" idx="1"/>
          </p:nvPr>
        </p:nvSpPr>
        <p:spPr>
          <a:xfrm>
            <a:off x="1206500" y="5336735"/>
            <a:ext cx="21971000" cy="6079549"/>
          </a:xfrm>
          <a:prstGeom prst="rect">
            <a:avLst/>
          </a:prstGeom>
        </p:spPr>
        <p:txBody>
          <a:bodyPr/>
          <a:lstStyle/>
          <a:p>
            <a:pPr>
              <a:defRPr>
                <a:latin typeface="+mn-lt"/>
                <a:ea typeface="+mn-ea"/>
                <a:cs typeface="+mn-cs"/>
                <a:sym typeface="Helvetica"/>
              </a:defRPr>
            </a:pPr>
            <a:r>
              <a:t>Real-time decision making</a:t>
            </a:r>
          </a:p>
          <a:p>
            <a:pPr>
              <a:defRPr>
                <a:latin typeface="+mn-lt"/>
                <a:ea typeface="+mn-ea"/>
                <a:cs typeface="+mn-cs"/>
                <a:sym typeface="Helvetica"/>
              </a:defRPr>
            </a:pPr>
            <a:r>
              <a:t>Increase app reliability, responsiveness and security</a:t>
            </a:r>
          </a:p>
          <a:p>
            <a:pPr>
              <a:defRPr>
                <a:latin typeface="+mn-lt"/>
                <a:ea typeface="+mn-ea"/>
                <a:cs typeface="+mn-cs"/>
                <a:sym typeface="Helvetica"/>
              </a:defRPr>
            </a:pPr>
            <a:r>
              <a:t>Reduce bandwidth and infrastructure costs</a:t>
            </a:r>
          </a:p>
          <a:p>
            <a:pPr>
              <a:defRPr>
                <a:latin typeface="+mn-lt"/>
                <a:ea typeface="+mn-ea"/>
                <a:cs typeface="+mn-cs"/>
                <a:sym typeface="Helvetica"/>
              </a:defRPr>
            </a:pPr>
            <a:r>
              <a:t>Enhanced customer experience</a:t>
            </a:r>
          </a:p>
          <a:p>
            <a:pPr>
              <a:defRPr>
                <a:latin typeface="+mn-lt"/>
                <a:ea typeface="+mn-ea"/>
                <a:cs typeface="+mn-cs"/>
                <a:sym typeface="Helvetica"/>
              </a:defRPr>
            </a:pPr>
            <a:r>
              <a:t>Enhanced data privacy and security</a:t>
            </a:r>
          </a:p>
        </p:txBody>
      </p:sp>
      <p:sp>
        <p:nvSpPr>
          <p:cNvPr id="239" name="“55% of all data analysis by deep neural networks will occur at the point of capture in an edge system by 2025” *"/>
          <p:cNvSpPr txBox="1"/>
          <p:nvPr/>
        </p:nvSpPr>
        <p:spPr>
          <a:xfrm>
            <a:off x="1210769" y="2968625"/>
            <a:ext cx="22595803" cy="142875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4600">
                <a:latin typeface="+mn-lt"/>
                <a:ea typeface="+mn-ea"/>
                <a:cs typeface="+mn-cs"/>
                <a:sym typeface="Helvetica"/>
              </a:defRPr>
            </a:lvl1pPr>
          </a:lstStyle>
          <a:p>
            <a:pPr/>
            <a:r>
              <a:t>“55% of all data analysis by deep neural networks will occur at the point of capture in an edge system by 2025” *</a:t>
            </a:r>
          </a:p>
        </p:txBody>
      </p:sp>
      <p:sp>
        <p:nvSpPr>
          <p:cNvPr id="240" name="* Source: Gartner Identifies Top Trends Shaping the Future of Data Science and Machine Learning, August 2023"/>
          <p:cNvSpPr txBox="1"/>
          <p:nvPr/>
        </p:nvSpPr>
        <p:spPr>
          <a:xfrm>
            <a:off x="1275410" y="12458700"/>
            <a:ext cx="17781092" cy="533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800">
                <a:latin typeface="+mn-lt"/>
                <a:ea typeface="+mn-ea"/>
                <a:cs typeface="+mn-cs"/>
                <a:sym typeface="Helvetica"/>
              </a:defRPr>
            </a:lvl1pPr>
          </a:lstStyle>
          <a:p>
            <a:pPr/>
            <a:r>
              <a:t>* Source: Gartner Identifies Top Trends Shaping the Future of Data Science and Machine Learning, August 2023</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4" name="pasted-movie.png" descr="pasted-movie.png"/>
          <p:cNvPicPr>
            <a:picLocks noChangeAspect="1"/>
          </p:cNvPicPr>
          <p:nvPr/>
        </p:nvPicPr>
        <p:blipFill>
          <a:blip r:embed="rId3">
            <a:extLst/>
          </a:blip>
          <a:stretch>
            <a:fillRect/>
          </a:stretch>
        </p:blipFill>
        <p:spPr>
          <a:xfrm>
            <a:off x="15422985" y="1700947"/>
            <a:ext cx="8853310" cy="10314106"/>
          </a:xfrm>
          <a:prstGeom prst="rect">
            <a:avLst/>
          </a:prstGeom>
          <a:ln w="12700">
            <a:miter lim="400000"/>
          </a:ln>
        </p:spPr>
      </p:pic>
      <p:sp>
        <p:nvSpPr>
          <p:cNvPr id="245" name="Common edge constraints"/>
          <p:cNvSpPr txBox="1"/>
          <p:nvPr>
            <p:ph type="title"/>
          </p:nvPr>
        </p:nvSpPr>
        <p:spPr>
          <a:prstGeom prst="rect">
            <a:avLst/>
          </a:prstGeom>
        </p:spPr>
        <p:txBody>
          <a:bodyPr/>
          <a:lstStyle/>
          <a:p>
            <a:pPr/>
            <a:r>
              <a:t>Common edge constraints</a:t>
            </a:r>
          </a:p>
        </p:txBody>
      </p:sp>
      <p:sp>
        <p:nvSpPr>
          <p:cNvPr id="246" name="Application…"/>
          <p:cNvSpPr txBox="1"/>
          <p:nvPr>
            <p:ph type="body" idx="1"/>
          </p:nvPr>
        </p:nvSpPr>
        <p:spPr>
          <a:xfrm>
            <a:off x="1206500" y="2955585"/>
            <a:ext cx="14520863" cy="9776936"/>
          </a:xfrm>
          <a:prstGeom prst="rect">
            <a:avLst/>
          </a:prstGeom>
        </p:spPr>
        <p:txBody>
          <a:bodyPr/>
          <a:lstStyle/>
          <a:p>
            <a:pPr marL="0" indent="0" defTabSz="2048204">
              <a:spcBef>
                <a:spcPts val="3700"/>
              </a:spcBef>
              <a:buSzTx/>
              <a:buNone/>
              <a:defRPr sz="4032">
                <a:latin typeface="+mn-lt"/>
                <a:ea typeface="+mn-ea"/>
                <a:cs typeface="+mn-cs"/>
                <a:sym typeface="Helvetica"/>
              </a:defRPr>
            </a:pPr>
            <a:r>
              <a:t>Application</a:t>
            </a:r>
          </a:p>
          <a:p>
            <a:pPr marL="512063" indent="-512063" defTabSz="2048204">
              <a:spcBef>
                <a:spcPts val="0"/>
              </a:spcBef>
              <a:defRPr sz="3275">
                <a:latin typeface="+mn-lt"/>
                <a:ea typeface="+mn-ea"/>
                <a:cs typeface="+mn-cs"/>
                <a:sym typeface="Helvetica"/>
              </a:defRPr>
            </a:pPr>
            <a:r>
              <a:t>Many existing apps may not be modernised for years…or ever</a:t>
            </a:r>
          </a:p>
          <a:p>
            <a:pPr marL="512063" indent="-512063" defTabSz="2048204">
              <a:spcBef>
                <a:spcPts val="0"/>
              </a:spcBef>
              <a:defRPr b="1" sz="3275">
                <a:latin typeface="+mn-lt"/>
                <a:ea typeface="+mn-ea"/>
                <a:cs typeface="+mn-cs"/>
                <a:sym typeface="Helvetica"/>
              </a:defRPr>
            </a:pPr>
            <a:r>
              <a:t>Configuration drift</a:t>
            </a:r>
          </a:p>
          <a:p>
            <a:pPr marL="512063" indent="-512063" defTabSz="2048204">
              <a:spcBef>
                <a:spcPts val="0"/>
              </a:spcBef>
              <a:defRPr b="1" sz="3275">
                <a:latin typeface="+mn-lt"/>
                <a:ea typeface="+mn-ea"/>
                <a:cs typeface="+mn-cs"/>
                <a:sym typeface="Helvetica"/>
              </a:defRPr>
            </a:pPr>
            <a:r>
              <a:t>Lifecycle management complex</a:t>
            </a:r>
          </a:p>
          <a:p>
            <a:pPr marL="0" indent="0" defTabSz="2048204">
              <a:spcBef>
                <a:spcPts val="3700"/>
              </a:spcBef>
              <a:buSzTx/>
              <a:buNone/>
              <a:defRPr sz="4032">
                <a:latin typeface="+mn-lt"/>
                <a:ea typeface="+mn-ea"/>
                <a:cs typeface="+mn-cs"/>
                <a:sym typeface="Helvetica"/>
              </a:defRPr>
            </a:pPr>
            <a:r>
              <a:t>Limited inelastic compute</a:t>
            </a:r>
          </a:p>
          <a:p>
            <a:pPr marL="512063" indent="-512063" defTabSz="2048204">
              <a:spcBef>
                <a:spcPts val="0"/>
              </a:spcBef>
              <a:defRPr sz="3191">
                <a:latin typeface="+mn-lt"/>
                <a:ea typeface="+mn-ea"/>
                <a:cs typeface="+mn-cs"/>
                <a:sym typeface="Helvetica"/>
              </a:defRPr>
            </a:pPr>
            <a:r>
              <a:t>Applications tied to specific hardware</a:t>
            </a:r>
          </a:p>
          <a:p>
            <a:pPr marL="512063" indent="-512063" defTabSz="2048204">
              <a:spcBef>
                <a:spcPts val="0"/>
              </a:spcBef>
              <a:defRPr sz="3191">
                <a:latin typeface="+mn-lt"/>
                <a:ea typeface="+mn-ea"/>
                <a:cs typeface="+mn-cs"/>
                <a:sym typeface="Helvetica"/>
              </a:defRPr>
            </a:pPr>
            <a:r>
              <a:t>GPUs tied to specific applications</a:t>
            </a:r>
          </a:p>
          <a:p>
            <a:pPr marL="512063" indent="-512063" defTabSz="2048204">
              <a:spcBef>
                <a:spcPts val="0"/>
              </a:spcBef>
              <a:defRPr sz="3191">
                <a:latin typeface="+mn-lt"/>
                <a:ea typeface="+mn-ea"/>
                <a:cs typeface="+mn-cs"/>
                <a:sym typeface="Helvetica"/>
              </a:defRPr>
            </a:pPr>
            <a:r>
              <a:t>Organic growth, disparate hardware and operating systems</a:t>
            </a:r>
          </a:p>
          <a:p>
            <a:pPr marL="0" indent="0" defTabSz="2048204">
              <a:spcBef>
                <a:spcPts val="3700"/>
              </a:spcBef>
              <a:buSzTx/>
              <a:buNone/>
              <a:defRPr sz="4032">
                <a:latin typeface="+mn-lt"/>
                <a:ea typeface="+mn-ea"/>
                <a:cs typeface="+mn-cs"/>
                <a:sym typeface="Helvetica"/>
              </a:defRPr>
            </a:pPr>
            <a:r>
              <a:t>Limited network</a:t>
            </a:r>
          </a:p>
          <a:p>
            <a:pPr marL="512063" indent="-512063" defTabSz="2048204">
              <a:spcBef>
                <a:spcPts val="0"/>
              </a:spcBef>
              <a:defRPr sz="3191">
                <a:latin typeface="+mn-lt"/>
                <a:ea typeface="+mn-ea"/>
                <a:cs typeface="+mn-cs"/>
                <a:sym typeface="Helvetica"/>
              </a:defRPr>
            </a:pPr>
            <a:r>
              <a:t>High latency, low bandwidth</a:t>
            </a:r>
          </a:p>
          <a:p>
            <a:pPr marL="512063" indent="-512063" defTabSz="2048204">
              <a:spcBef>
                <a:spcPts val="0"/>
              </a:spcBef>
              <a:defRPr sz="3191">
                <a:latin typeface="+mn-lt"/>
                <a:ea typeface="+mn-ea"/>
                <a:cs typeface="+mn-cs"/>
                <a:sym typeface="Helvetica"/>
              </a:defRPr>
            </a:pPr>
            <a:r>
              <a:t>Potential outages to central management systems.</a:t>
            </a:r>
          </a:p>
          <a:p>
            <a:pPr marL="0" indent="0" defTabSz="2048204">
              <a:spcBef>
                <a:spcPts val="3700"/>
              </a:spcBef>
              <a:buSzTx/>
              <a:buNone/>
              <a:defRPr sz="4032">
                <a:latin typeface="+mn-lt"/>
                <a:ea typeface="+mn-ea"/>
                <a:cs typeface="+mn-cs"/>
                <a:sym typeface="Helvetica"/>
              </a:defRPr>
            </a:pPr>
            <a:r>
              <a:t>Siloed Data</a:t>
            </a:r>
          </a:p>
          <a:p>
            <a:pPr marL="512063" indent="-512063" defTabSz="2048204">
              <a:spcBef>
                <a:spcPts val="0"/>
              </a:spcBef>
              <a:defRPr sz="3191">
                <a:latin typeface="+mn-lt"/>
                <a:ea typeface="+mn-ea"/>
                <a:cs typeface="+mn-cs"/>
                <a:sym typeface="Helvetica"/>
              </a:defRPr>
            </a:pPr>
            <a:r>
              <a:t>Pockets of data distributed in silos</a:t>
            </a:r>
          </a:p>
          <a:p>
            <a:pPr marL="0" indent="0" defTabSz="2048204">
              <a:spcBef>
                <a:spcPts val="3700"/>
              </a:spcBef>
              <a:buSzTx/>
              <a:buNone/>
              <a:defRPr sz="4032">
                <a:latin typeface="+mn-lt"/>
                <a:ea typeface="+mn-ea"/>
                <a:cs typeface="+mn-cs"/>
                <a:sym typeface="Helvetica"/>
              </a:defRPr>
            </a:pPr>
            <a:r>
              <a:t>People Skillset</a:t>
            </a:r>
          </a:p>
          <a:p>
            <a:pPr marL="512063" indent="-512063" defTabSz="2048204">
              <a:spcBef>
                <a:spcPts val="0"/>
              </a:spcBef>
              <a:defRPr b="1" sz="3191">
                <a:latin typeface="+mn-lt"/>
                <a:ea typeface="+mn-ea"/>
                <a:cs typeface="+mn-cs"/>
                <a:sym typeface="Helvetica"/>
              </a:defRPr>
            </a:pPr>
            <a:r>
              <a:t>Few trained in IT at the edge locations.</a:t>
            </a:r>
          </a:p>
          <a:p>
            <a:pPr marL="512063" indent="-512063" defTabSz="2048204">
              <a:spcBef>
                <a:spcPts val="0"/>
              </a:spcBef>
              <a:defRPr b="1" sz="3191">
                <a:latin typeface="+mn-lt"/>
                <a:ea typeface="+mn-ea"/>
                <a:cs typeface="+mn-cs"/>
                <a:sym typeface="Helvetica"/>
              </a:defRPr>
            </a:pPr>
            <a:r>
              <a:t>Few dedicated to Edge in central IT.</a:t>
            </a:r>
          </a:p>
        </p:txBody>
      </p:sp>
      <p:sp>
        <p:nvSpPr>
          <p:cNvPr id="247" name="https://jooinn.com/ball-and-chain-means-conquering-adversity-and-bound-3d-rendering.html"/>
          <p:cNvSpPr txBox="1"/>
          <p:nvPr/>
        </p:nvSpPr>
        <p:spPr>
          <a:xfrm>
            <a:off x="15740378" y="12172949"/>
            <a:ext cx="8370889" cy="342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600">
                <a:latin typeface="+mn-lt"/>
                <a:ea typeface="+mn-ea"/>
                <a:cs typeface="+mn-cs"/>
                <a:sym typeface="Helvetica"/>
              </a:defRPr>
            </a:lvl1pPr>
          </a:lstStyle>
          <a:p>
            <a:pPr/>
            <a:r>
              <a:t>https://jooinn.com/ball-and-chain-means-conquering-adversity-and-bound-3d-rendering.html</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VMware Edge Cloud Orchestrator (VECO)"/>
          <p:cNvSpPr txBox="1"/>
          <p:nvPr>
            <p:ph type="title"/>
          </p:nvPr>
        </p:nvSpPr>
        <p:spPr>
          <a:xfrm>
            <a:off x="800100" y="5192391"/>
            <a:ext cx="21971000" cy="1433163"/>
          </a:xfrm>
          <a:prstGeom prst="rect">
            <a:avLst/>
          </a:prstGeom>
        </p:spPr>
        <p:txBody>
          <a:bodyPr/>
          <a:lstStyle>
            <a:lvl1pPr>
              <a:defRPr spc="-162" sz="8100"/>
            </a:lvl1pPr>
          </a:lstStyle>
          <a:p>
            <a:pPr/>
            <a:r>
              <a:t>VMware Edge Cloud Orchestrator (VECO)</a:t>
            </a:r>
          </a:p>
        </p:txBody>
      </p:sp>
      <p:sp>
        <p:nvSpPr>
          <p:cNvPr id="252" name="Zero touch provisioning of infrastructure and applications.…"/>
          <p:cNvSpPr txBox="1"/>
          <p:nvPr>
            <p:ph type="body" idx="1"/>
          </p:nvPr>
        </p:nvSpPr>
        <p:spPr>
          <a:xfrm>
            <a:off x="800100" y="6633254"/>
            <a:ext cx="21971000" cy="6557062"/>
          </a:xfrm>
          <a:prstGeom prst="rect">
            <a:avLst/>
          </a:prstGeom>
        </p:spPr>
        <p:txBody>
          <a:bodyPr/>
          <a:lstStyle/>
          <a:p>
            <a:pPr>
              <a:spcBef>
                <a:spcPts val="2500"/>
              </a:spcBef>
              <a:defRPr>
                <a:latin typeface="+mn-lt"/>
                <a:ea typeface="+mn-ea"/>
                <a:cs typeface="+mn-cs"/>
                <a:sym typeface="Helvetica"/>
              </a:defRPr>
            </a:pPr>
            <a:r>
              <a:t>Zero touch provisioning of infrastructure and applications.</a:t>
            </a:r>
          </a:p>
          <a:p>
            <a:pPr>
              <a:spcBef>
                <a:spcPts val="2500"/>
              </a:spcBef>
              <a:defRPr>
                <a:latin typeface="+mn-lt"/>
                <a:ea typeface="+mn-ea"/>
                <a:cs typeface="+mn-cs"/>
                <a:sym typeface="Helvetica"/>
              </a:defRPr>
            </a:pPr>
            <a:r>
              <a:t>GitOps workflows for day zero and day two operations.</a:t>
            </a:r>
          </a:p>
          <a:p>
            <a:pPr lvl="1">
              <a:spcBef>
                <a:spcPts val="2500"/>
              </a:spcBef>
              <a:defRPr>
                <a:latin typeface="+mn-lt"/>
                <a:ea typeface="+mn-ea"/>
                <a:cs typeface="+mn-cs"/>
                <a:sym typeface="Helvetica"/>
              </a:defRPr>
            </a:pPr>
            <a:r>
              <a:t>Infrastructure and applications desired state manifest files in a git repository.</a:t>
            </a:r>
          </a:p>
          <a:p>
            <a:pPr>
              <a:spcBef>
                <a:spcPts val="2500"/>
              </a:spcBef>
              <a:defRPr>
                <a:latin typeface="+mn-lt"/>
                <a:ea typeface="+mn-ea"/>
                <a:cs typeface="+mn-cs"/>
                <a:sym typeface="Helvetica"/>
              </a:defRPr>
            </a:pPr>
            <a:r>
              <a:t>VM and container based applications run side-by-side</a:t>
            </a:r>
          </a:p>
          <a:p>
            <a:pPr>
              <a:spcBef>
                <a:spcPts val="2500"/>
              </a:spcBef>
              <a:defRPr>
                <a:latin typeface="+mn-lt"/>
                <a:ea typeface="+mn-ea"/>
                <a:cs typeface="+mn-cs"/>
                <a:sym typeface="Helvetica"/>
              </a:defRPr>
            </a:pPr>
            <a:r>
              <a:t>Consumer grade hardware</a:t>
            </a:r>
          </a:p>
        </p:txBody>
      </p:sp>
      <p:sp>
        <p:nvSpPr>
          <p:cNvPr id="253" name="Tech Showcase"/>
          <p:cNvSpPr/>
          <p:nvPr/>
        </p:nvSpPr>
        <p:spPr>
          <a:xfrm>
            <a:off x="21574878" y="5280775"/>
            <a:ext cx="2647653" cy="12563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639" y="0"/>
                </a:moveTo>
                <a:lnTo>
                  <a:pt x="0" y="21600"/>
                </a:lnTo>
                <a:lnTo>
                  <a:pt x="16961" y="21600"/>
                </a:lnTo>
                <a:lnTo>
                  <a:pt x="21600" y="0"/>
                </a:lnTo>
                <a:lnTo>
                  <a:pt x="4639" y="0"/>
                </a:lnTo>
                <a:close/>
              </a:path>
            </a:pathLst>
          </a:custGeom>
          <a:solidFill>
            <a:srgbClr val="ED220D"/>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b="1" sz="2700">
                <a:solidFill>
                  <a:srgbClr val="FFFFFF"/>
                </a:solidFill>
                <a:latin typeface="+mn-lt"/>
                <a:ea typeface="+mn-ea"/>
                <a:cs typeface="+mn-cs"/>
                <a:sym typeface="Helvetica"/>
              </a:defRPr>
            </a:lvl1pPr>
          </a:lstStyle>
          <a:p>
            <a:pPr/>
            <a:r>
              <a:t>Tech Showcase</a:t>
            </a:r>
          </a:p>
        </p:txBody>
      </p:sp>
      <p:sp>
        <p:nvSpPr>
          <p:cNvPr id="254" name="xLabs is a program within the Advanced Technology Group in VMware’s Office of the Chief Technology Officer.…"/>
          <p:cNvSpPr txBox="1"/>
          <p:nvPr/>
        </p:nvSpPr>
        <p:spPr>
          <a:xfrm>
            <a:off x="909761" y="1786171"/>
            <a:ext cx="21751678" cy="33985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a:latin typeface="+mn-lt"/>
                <a:ea typeface="+mn-ea"/>
                <a:cs typeface="+mn-cs"/>
                <a:sym typeface="Helvetica"/>
              </a:defRPr>
            </a:pPr>
            <a:r>
              <a:t>xLabs is a program within the Advanced Technology Group in VMware’s Office of the Chief Technology Officer.</a:t>
            </a:r>
          </a:p>
          <a:p>
            <a:pPr>
              <a:defRPr>
                <a:latin typeface="+mn-lt"/>
                <a:ea typeface="+mn-ea"/>
                <a:cs typeface="+mn-cs"/>
                <a:sym typeface="Helvetica"/>
              </a:defRPr>
            </a:pPr>
            <a:r>
              <a:t>Cultivating cutting-edge technologies in collaboration with partners, and customers.</a:t>
            </a:r>
          </a:p>
        </p:txBody>
      </p:sp>
      <p:sp>
        <p:nvSpPr>
          <p:cNvPr id="255" name="xLabs"/>
          <p:cNvSpPr txBox="1"/>
          <p:nvPr/>
        </p:nvSpPr>
        <p:spPr>
          <a:xfrm>
            <a:off x="800098" y="61962"/>
            <a:ext cx="21971004" cy="2092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a:lnSpc>
                <a:spcPct val="80000"/>
              </a:lnSpc>
              <a:spcBef>
                <a:spcPts val="0"/>
              </a:spcBef>
              <a:defRPr b="1" spc="-162" sz="8100">
                <a:latin typeface="+mn-lt"/>
                <a:ea typeface="+mn-ea"/>
                <a:cs typeface="+mn-cs"/>
                <a:sym typeface="Helvetica"/>
              </a:defRPr>
            </a:lvl1pPr>
          </a:lstStyle>
          <a:p>
            <a:pPr/>
            <a:r>
              <a:t>xLabs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Management Plane"/>
          <p:cNvSpPr/>
          <p:nvPr/>
        </p:nvSpPr>
        <p:spPr>
          <a:xfrm>
            <a:off x="2122792" y="2390623"/>
            <a:ext cx="20177835" cy="3369481"/>
          </a:xfrm>
          <a:prstGeom prst="rect">
            <a:avLst/>
          </a:prstGeom>
          <a:ln w="114300">
            <a:solidFill>
              <a:schemeClr val="accent1">
                <a:hueOff val="114395"/>
                <a:lumOff val="-24975"/>
              </a:schemeClr>
            </a:solidFill>
            <a:miter/>
          </a:ln>
          <a:extLst>
            <a:ext uri="{C572A759-6A51-4108-AA02-DFA0A04FC94B}">
              <ma14:wrappingTextBoxFlag xmlns:ma14="http://schemas.microsoft.com/office/mac/drawingml/2011/main" val="1"/>
            </a:ext>
          </a:extLst>
        </p:spPr>
        <p:txBody>
          <a:bodyPr lIns="50800" tIns="50800" rIns="50800" bIns="50800"/>
          <a:lstStyle/>
          <a:p>
            <a:pPr algn="ctr" defTabSz="825500">
              <a:lnSpc>
                <a:spcPct val="100000"/>
              </a:lnSpc>
              <a:spcBef>
                <a:spcPts val="0"/>
              </a:spcBef>
              <a:defRPr sz="3200">
                <a:solidFill>
                  <a:schemeClr val="accent1">
                    <a:hueOff val="114395"/>
                    <a:lumOff val="-24975"/>
                  </a:schemeClr>
                </a:solidFill>
                <a:latin typeface="+mn-lt"/>
                <a:ea typeface="+mn-ea"/>
                <a:cs typeface="+mn-cs"/>
                <a:sym typeface="Helvetica"/>
              </a:defRPr>
            </a:pPr>
          </a:p>
          <a:p>
            <a:pPr algn="ctr" defTabSz="825500">
              <a:lnSpc>
                <a:spcPct val="100000"/>
              </a:lnSpc>
              <a:spcBef>
                <a:spcPts val="0"/>
              </a:spcBef>
              <a:defRPr sz="3200">
                <a:solidFill>
                  <a:schemeClr val="accent1">
                    <a:hueOff val="114395"/>
                    <a:lumOff val="-24975"/>
                  </a:schemeClr>
                </a:solidFill>
                <a:latin typeface="+mn-lt"/>
                <a:ea typeface="+mn-ea"/>
                <a:cs typeface="+mn-cs"/>
                <a:sym typeface="Helvetica"/>
              </a:defRPr>
            </a:pPr>
            <a:r>
              <a:t>Management Plane</a:t>
            </a:r>
          </a:p>
        </p:txBody>
      </p:sp>
      <p:sp>
        <p:nvSpPr>
          <p:cNvPr id="260" name="Lifecycle Management"/>
          <p:cNvSpPr/>
          <p:nvPr/>
        </p:nvSpPr>
        <p:spPr>
          <a:xfrm>
            <a:off x="2983449" y="3907440"/>
            <a:ext cx="2897606"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Lifecycle Management</a:t>
            </a:r>
          </a:p>
        </p:txBody>
      </p:sp>
      <p:sp>
        <p:nvSpPr>
          <p:cNvPr id="261" name="Site Profiles"/>
          <p:cNvSpPr/>
          <p:nvPr/>
        </p:nvSpPr>
        <p:spPr>
          <a:xfrm>
            <a:off x="6901969" y="3907440"/>
            <a:ext cx="2897606"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Site Profiles</a:t>
            </a:r>
          </a:p>
        </p:txBody>
      </p:sp>
      <p:sp>
        <p:nvSpPr>
          <p:cNvPr id="262" name="Visibility"/>
          <p:cNvSpPr/>
          <p:nvPr/>
        </p:nvSpPr>
        <p:spPr>
          <a:xfrm>
            <a:off x="10820489" y="3907440"/>
            <a:ext cx="2897606"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Visibility</a:t>
            </a:r>
          </a:p>
        </p:txBody>
      </p:sp>
      <p:sp>
        <p:nvSpPr>
          <p:cNvPr id="263" name="Monitoring"/>
          <p:cNvSpPr/>
          <p:nvPr/>
        </p:nvSpPr>
        <p:spPr>
          <a:xfrm>
            <a:off x="14739008" y="3907440"/>
            <a:ext cx="2897607"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Monitoring</a:t>
            </a:r>
          </a:p>
        </p:txBody>
      </p:sp>
      <p:sp>
        <p:nvSpPr>
          <p:cNvPr id="264" name="Auditing"/>
          <p:cNvSpPr/>
          <p:nvPr/>
        </p:nvSpPr>
        <p:spPr>
          <a:xfrm>
            <a:off x="18657529" y="3907440"/>
            <a:ext cx="2897606"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Auditing</a:t>
            </a:r>
          </a:p>
        </p:txBody>
      </p:sp>
      <p:sp>
        <p:nvSpPr>
          <p:cNvPr id="265" name="Control and Data Plane"/>
          <p:cNvSpPr/>
          <p:nvPr/>
        </p:nvSpPr>
        <p:spPr>
          <a:xfrm>
            <a:off x="2160633" y="7789259"/>
            <a:ext cx="6325801" cy="4983918"/>
          </a:xfrm>
          <a:prstGeom prst="rect">
            <a:avLst/>
          </a:prstGeom>
          <a:ln w="114300">
            <a:solidFill>
              <a:schemeClr val="accent1">
                <a:hueOff val="114395"/>
                <a:lumOff val="-24975"/>
              </a:schemeClr>
            </a:solidFill>
            <a:miter/>
          </a:ln>
          <a:extLst>
            <a:ext uri="{C572A759-6A51-4108-AA02-DFA0A04FC94B}">
              <ma14:wrappingTextBoxFlag xmlns:ma14="http://schemas.microsoft.com/office/mac/drawingml/2011/main" val="1"/>
            </a:ext>
          </a:extLst>
        </p:spPr>
        <p:txBody>
          <a:bodyPr lIns="50800" tIns="50800" rIns="50800" bIns="50800"/>
          <a:lstStyle/>
          <a:p>
            <a:pPr algn="ctr" defTabSz="825500">
              <a:lnSpc>
                <a:spcPct val="100000"/>
              </a:lnSpc>
              <a:spcBef>
                <a:spcPts val="0"/>
              </a:spcBef>
              <a:defRPr sz="3200">
                <a:latin typeface="+mn-lt"/>
                <a:ea typeface="+mn-ea"/>
                <a:cs typeface="+mn-cs"/>
                <a:sym typeface="Helvetica"/>
              </a:defRPr>
            </a:pPr>
          </a:p>
          <a:p>
            <a:pPr algn="ctr" defTabSz="825500">
              <a:lnSpc>
                <a:spcPct val="100000"/>
              </a:lnSpc>
              <a:spcBef>
                <a:spcPts val="0"/>
              </a:spcBef>
              <a:defRPr sz="3200">
                <a:solidFill>
                  <a:schemeClr val="accent1">
                    <a:hueOff val="114395"/>
                    <a:lumOff val="-24975"/>
                  </a:schemeClr>
                </a:solidFill>
                <a:latin typeface="+mn-lt"/>
                <a:ea typeface="+mn-ea"/>
                <a:cs typeface="+mn-cs"/>
                <a:sym typeface="Helvetica"/>
              </a:defRPr>
            </a:pPr>
            <a:r>
              <a:t>Control and Data Plane</a:t>
            </a:r>
          </a:p>
        </p:txBody>
      </p:sp>
      <p:sp>
        <p:nvSpPr>
          <p:cNvPr id="266" name="ESXi"/>
          <p:cNvSpPr/>
          <p:nvPr/>
        </p:nvSpPr>
        <p:spPr>
          <a:xfrm>
            <a:off x="3084405" y="10735558"/>
            <a:ext cx="4478257"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ESXi</a:t>
            </a:r>
          </a:p>
        </p:txBody>
      </p:sp>
      <p:sp>
        <p:nvSpPr>
          <p:cNvPr id="267" name="Containers"/>
          <p:cNvSpPr/>
          <p:nvPr/>
        </p:nvSpPr>
        <p:spPr>
          <a:xfrm>
            <a:off x="5391510" y="9323395"/>
            <a:ext cx="2214658"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Containers</a:t>
            </a:r>
          </a:p>
        </p:txBody>
      </p:sp>
      <p:sp>
        <p:nvSpPr>
          <p:cNvPr id="268" name="VMs"/>
          <p:cNvSpPr/>
          <p:nvPr/>
        </p:nvSpPr>
        <p:spPr>
          <a:xfrm>
            <a:off x="3054044" y="9323395"/>
            <a:ext cx="2214657"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VMs</a:t>
            </a:r>
          </a:p>
        </p:txBody>
      </p:sp>
      <p:sp>
        <p:nvSpPr>
          <p:cNvPr id="269" name="Control and Data Plane"/>
          <p:cNvSpPr/>
          <p:nvPr/>
        </p:nvSpPr>
        <p:spPr>
          <a:xfrm>
            <a:off x="9055382" y="7789259"/>
            <a:ext cx="6325800" cy="4983918"/>
          </a:xfrm>
          <a:prstGeom prst="rect">
            <a:avLst/>
          </a:prstGeom>
          <a:ln w="114300">
            <a:solidFill>
              <a:schemeClr val="accent1">
                <a:hueOff val="114395"/>
                <a:lumOff val="-24975"/>
              </a:schemeClr>
            </a:solidFill>
            <a:miter/>
          </a:ln>
          <a:extLst>
            <a:ext uri="{C572A759-6A51-4108-AA02-DFA0A04FC94B}">
              <ma14:wrappingTextBoxFlag xmlns:ma14="http://schemas.microsoft.com/office/mac/drawingml/2011/main" val="1"/>
            </a:ext>
          </a:extLst>
        </p:spPr>
        <p:txBody>
          <a:bodyPr lIns="50800" tIns="50800" rIns="50800" bIns="50800"/>
          <a:lstStyle/>
          <a:p>
            <a:pPr algn="ctr" defTabSz="825500">
              <a:lnSpc>
                <a:spcPct val="100000"/>
              </a:lnSpc>
              <a:spcBef>
                <a:spcPts val="0"/>
              </a:spcBef>
              <a:defRPr sz="3200">
                <a:latin typeface="+mn-lt"/>
                <a:ea typeface="+mn-ea"/>
                <a:cs typeface="+mn-cs"/>
                <a:sym typeface="Helvetica"/>
              </a:defRPr>
            </a:pPr>
          </a:p>
          <a:p>
            <a:pPr algn="ctr" defTabSz="825500">
              <a:lnSpc>
                <a:spcPct val="100000"/>
              </a:lnSpc>
              <a:spcBef>
                <a:spcPts val="0"/>
              </a:spcBef>
              <a:defRPr sz="3200">
                <a:solidFill>
                  <a:schemeClr val="accent1">
                    <a:hueOff val="114395"/>
                    <a:lumOff val="-24975"/>
                  </a:schemeClr>
                </a:solidFill>
                <a:latin typeface="+mn-lt"/>
                <a:ea typeface="+mn-ea"/>
                <a:cs typeface="+mn-cs"/>
                <a:sym typeface="Helvetica"/>
              </a:defRPr>
            </a:pPr>
            <a:r>
              <a:t>Control and Data Plane</a:t>
            </a:r>
          </a:p>
        </p:txBody>
      </p:sp>
      <p:sp>
        <p:nvSpPr>
          <p:cNvPr id="270" name="ESXi"/>
          <p:cNvSpPr/>
          <p:nvPr/>
        </p:nvSpPr>
        <p:spPr>
          <a:xfrm>
            <a:off x="9979154" y="10735558"/>
            <a:ext cx="4478256"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ESXi</a:t>
            </a:r>
          </a:p>
        </p:txBody>
      </p:sp>
      <p:sp>
        <p:nvSpPr>
          <p:cNvPr id="271" name="Containers"/>
          <p:cNvSpPr/>
          <p:nvPr/>
        </p:nvSpPr>
        <p:spPr>
          <a:xfrm>
            <a:off x="12286259" y="9323395"/>
            <a:ext cx="2214657"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Containers</a:t>
            </a:r>
          </a:p>
        </p:txBody>
      </p:sp>
      <p:sp>
        <p:nvSpPr>
          <p:cNvPr id="272" name="VMs"/>
          <p:cNvSpPr/>
          <p:nvPr/>
        </p:nvSpPr>
        <p:spPr>
          <a:xfrm>
            <a:off x="9948792" y="9323395"/>
            <a:ext cx="2214658"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VMs</a:t>
            </a:r>
          </a:p>
        </p:txBody>
      </p:sp>
      <p:sp>
        <p:nvSpPr>
          <p:cNvPr id="273" name="Control and Data Plane"/>
          <p:cNvSpPr/>
          <p:nvPr/>
        </p:nvSpPr>
        <p:spPr>
          <a:xfrm>
            <a:off x="15936985" y="7789259"/>
            <a:ext cx="6325800" cy="4983918"/>
          </a:xfrm>
          <a:prstGeom prst="rect">
            <a:avLst/>
          </a:prstGeom>
          <a:ln w="114300">
            <a:solidFill>
              <a:schemeClr val="accent1">
                <a:hueOff val="114395"/>
                <a:lumOff val="-24975"/>
              </a:schemeClr>
            </a:solidFill>
            <a:miter/>
          </a:ln>
          <a:extLst>
            <a:ext uri="{C572A759-6A51-4108-AA02-DFA0A04FC94B}">
              <ma14:wrappingTextBoxFlag xmlns:ma14="http://schemas.microsoft.com/office/mac/drawingml/2011/main" val="1"/>
            </a:ext>
          </a:extLst>
        </p:spPr>
        <p:txBody>
          <a:bodyPr lIns="50800" tIns="50800" rIns="50800" bIns="50800"/>
          <a:lstStyle/>
          <a:p>
            <a:pPr algn="ctr" defTabSz="825500">
              <a:lnSpc>
                <a:spcPct val="100000"/>
              </a:lnSpc>
              <a:spcBef>
                <a:spcPts val="0"/>
              </a:spcBef>
              <a:defRPr sz="3200">
                <a:latin typeface="+mn-lt"/>
                <a:ea typeface="+mn-ea"/>
                <a:cs typeface="+mn-cs"/>
                <a:sym typeface="Helvetica"/>
              </a:defRPr>
            </a:pPr>
          </a:p>
          <a:p>
            <a:pPr algn="ctr" defTabSz="825500">
              <a:lnSpc>
                <a:spcPct val="100000"/>
              </a:lnSpc>
              <a:spcBef>
                <a:spcPts val="0"/>
              </a:spcBef>
              <a:defRPr sz="3200">
                <a:solidFill>
                  <a:schemeClr val="accent1">
                    <a:hueOff val="114395"/>
                    <a:lumOff val="-24975"/>
                  </a:schemeClr>
                </a:solidFill>
                <a:latin typeface="+mn-lt"/>
                <a:ea typeface="+mn-ea"/>
                <a:cs typeface="+mn-cs"/>
                <a:sym typeface="Helvetica"/>
              </a:defRPr>
            </a:pPr>
            <a:r>
              <a:t>Control and Data Plane</a:t>
            </a:r>
          </a:p>
        </p:txBody>
      </p:sp>
      <p:sp>
        <p:nvSpPr>
          <p:cNvPr id="274" name="ESXi"/>
          <p:cNvSpPr/>
          <p:nvPr/>
        </p:nvSpPr>
        <p:spPr>
          <a:xfrm>
            <a:off x="16860758" y="10735558"/>
            <a:ext cx="4478256"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ESXi</a:t>
            </a:r>
          </a:p>
        </p:txBody>
      </p:sp>
      <p:sp>
        <p:nvSpPr>
          <p:cNvPr id="275" name="Containers"/>
          <p:cNvSpPr/>
          <p:nvPr/>
        </p:nvSpPr>
        <p:spPr>
          <a:xfrm>
            <a:off x="19167862" y="9323395"/>
            <a:ext cx="2214657"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Containers</a:t>
            </a:r>
          </a:p>
        </p:txBody>
      </p:sp>
      <p:sp>
        <p:nvSpPr>
          <p:cNvPr id="276" name="VMs"/>
          <p:cNvSpPr/>
          <p:nvPr/>
        </p:nvSpPr>
        <p:spPr>
          <a:xfrm>
            <a:off x="16830395" y="9323395"/>
            <a:ext cx="2214658" cy="1270001"/>
          </a:xfrm>
          <a:prstGeom prst="rect">
            <a:avLst/>
          </a:prstGeom>
          <a:solidFill>
            <a:schemeClr val="accent1">
              <a:hueOff val="114395"/>
              <a:lumOff val="-24975"/>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3200">
                <a:solidFill>
                  <a:srgbClr val="FFFFFF"/>
                </a:solidFill>
                <a:latin typeface="+mn-lt"/>
                <a:ea typeface="+mn-ea"/>
                <a:cs typeface="+mn-cs"/>
                <a:sym typeface="Helvetica"/>
              </a:defRPr>
            </a:lvl1pPr>
          </a:lstStyle>
          <a:p>
            <a:pPr/>
            <a:r>
              <a:t>VMs</a:t>
            </a:r>
          </a:p>
        </p:txBody>
      </p:sp>
      <p:sp>
        <p:nvSpPr>
          <p:cNvPr id="277" name="VECO Architecture"/>
          <p:cNvSpPr txBox="1"/>
          <p:nvPr>
            <p:ph type="title"/>
          </p:nvPr>
        </p:nvSpPr>
        <p:spPr>
          <a:xfrm>
            <a:off x="1226209" y="622300"/>
            <a:ext cx="21971001" cy="1433163"/>
          </a:xfrm>
          <a:prstGeom prst="rect">
            <a:avLst/>
          </a:prstGeom>
        </p:spPr>
        <p:txBody>
          <a:bodyPr/>
          <a:lstStyle/>
          <a:p>
            <a:pPr/>
            <a:r>
              <a:t>VECO Architecture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witch to Keswick console…"/>
          <p:cNvSpPr txBox="1"/>
          <p:nvPr/>
        </p:nvSpPr>
        <p:spPr>
          <a:xfrm>
            <a:off x="5405780" y="5495767"/>
            <a:ext cx="13572440" cy="325786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r>
              <a:t>Switch to Keswick console</a:t>
            </a:r>
          </a:p>
          <a:p>
            <a:pPr/>
          </a:p>
          <a:p>
            <a:pPr/>
            <a:r>
              <a:rPr u="sng">
                <a:hlinkClick r:id="rId2" invalidUrl="" action="" tgtFrame="" tooltip="" history="1" highlightClick="0" endSnd="0"/>
              </a:rPr>
              <a:t>https://veco.showcase.vmware.com/#/launchpad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Layout Document"/>
          <p:cNvSpPr/>
          <p:nvPr/>
        </p:nvSpPr>
        <p:spPr>
          <a:xfrm>
            <a:off x="5651797" y="4279769"/>
            <a:ext cx="897531" cy="11622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 y="0"/>
                </a:moveTo>
                <a:cubicBezTo>
                  <a:pt x="96" y="0"/>
                  <a:pt x="0" y="74"/>
                  <a:pt x="0" y="164"/>
                </a:cubicBezTo>
                <a:lnTo>
                  <a:pt x="0" y="21438"/>
                </a:lnTo>
                <a:cubicBezTo>
                  <a:pt x="0" y="21528"/>
                  <a:pt x="96" y="21600"/>
                  <a:pt x="213" y="21600"/>
                </a:cubicBezTo>
                <a:lnTo>
                  <a:pt x="21387" y="21600"/>
                </a:lnTo>
                <a:cubicBezTo>
                  <a:pt x="21504" y="21600"/>
                  <a:pt x="21600" y="21528"/>
                  <a:pt x="21600" y="21438"/>
                </a:cubicBezTo>
                <a:lnTo>
                  <a:pt x="21600" y="5897"/>
                </a:lnTo>
                <a:cubicBezTo>
                  <a:pt x="21600" y="5865"/>
                  <a:pt x="21567" y="5839"/>
                  <a:pt x="21525" y="5839"/>
                </a:cubicBezTo>
                <a:lnTo>
                  <a:pt x="14257" y="5839"/>
                </a:lnTo>
                <a:cubicBezTo>
                  <a:pt x="14140" y="5839"/>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2"/>
                  <a:pt x="15185" y="5122"/>
                </a:cubicBezTo>
                <a:lnTo>
                  <a:pt x="21419" y="5122"/>
                </a:lnTo>
                <a:cubicBezTo>
                  <a:pt x="21486" y="5122"/>
                  <a:pt x="21519" y="5059"/>
                  <a:pt x="21472" y="5023"/>
                </a:cubicBezTo>
                <a:lnTo>
                  <a:pt x="15100" y="99"/>
                </a:lnTo>
                <a:cubicBezTo>
                  <a:pt x="15077" y="81"/>
                  <a:pt x="15044" y="77"/>
                  <a:pt x="15018" y="86"/>
                </a:cubicBezTo>
                <a:close/>
                <a:moveTo>
                  <a:pt x="4056" y="7813"/>
                </a:moveTo>
                <a:lnTo>
                  <a:pt x="9151" y="7813"/>
                </a:lnTo>
                <a:cubicBezTo>
                  <a:pt x="9263" y="7813"/>
                  <a:pt x="9352" y="7882"/>
                  <a:pt x="9352" y="7968"/>
                </a:cubicBezTo>
                <a:lnTo>
                  <a:pt x="9352" y="11418"/>
                </a:lnTo>
                <a:cubicBezTo>
                  <a:pt x="9352" y="11504"/>
                  <a:pt x="9263" y="11573"/>
                  <a:pt x="9151" y="11573"/>
                </a:cubicBezTo>
                <a:lnTo>
                  <a:pt x="4056" y="11573"/>
                </a:lnTo>
                <a:cubicBezTo>
                  <a:pt x="3945" y="11573"/>
                  <a:pt x="3853" y="11504"/>
                  <a:pt x="3853" y="11418"/>
                </a:cubicBezTo>
                <a:lnTo>
                  <a:pt x="3853" y="7968"/>
                </a:lnTo>
                <a:cubicBezTo>
                  <a:pt x="3853" y="7882"/>
                  <a:pt x="3945" y="7813"/>
                  <a:pt x="4056" y="7813"/>
                </a:cubicBezTo>
                <a:close/>
                <a:moveTo>
                  <a:pt x="11327" y="7813"/>
                </a:moveTo>
                <a:lnTo>
                  <a:pt x="17677" y="7813"/>
                </a:lnTo>
                <a:cubicBezTo>
                  <a:pt x="17715" y="7813"/>
                  <a:pt x="17747" y="7838"/>
                  <a:pt x="17747" y="7868"/>
                </a:cubicBezTo>
                <a:lnTo>
                  <a:pt x="17747" y="8836"/>
                </a:lnTo>
                <a:cubicBezTo>
                  <a:pt x="17747" y="8866"/>
                  <a:pt x="17715" y="8889"/>
                  <a:pt x="17677" y="8889"/>
                </a:cubicBezTo>
                <a:lnTo>
                  <a:pt x="11329" y="8889"/>
                </a:lnTo>
                <a:cubicBezTo>
                  <a:pt x="11291" y="8889"/>
                  <a:pt x="11259" y="8866"/>
                  <a:pt x="11259" y="8836"/>
                </a:cubicBezTo>
                <a:lnTo>
                  <a:pt x="11259" y="7866"/>
                </a:lnTo>
                <a:cubicBezTo>
                  <a:pt x="11259" y="7837"/>
                  <a:pt x="11291" y="7813"/>
                  <a:pt x="11327" y="7813"/>
                </a:cubicBezTo>
                <a:close/>
                <a:moveTo>
                  <a:pt x="4859" y="8530"/>
                </a:moveTo>
                <a:cubicBezTo>
                  <a:pt x="4817" y="8530"/>
                  <a:pt x="4781" y="8558"/>
                  <a:pt x="4781" y="8590"/>
                </a:cubicBezTo>
                <a:lnTo>
                  <a:pt x="4781" y="10798"/>
                </a:lnTo>
                <a:cubicBezTo>
                  <a:pt x="4781" y="10830"/>
                  <a:pt x="4816" y="10855"/>
                  <a:pt x="4859" y="10856"/>
                </a:cubicBezTo>
                <a:lnTo>
                  <a:pt x="8349" y="10856"/>
                </a:lnTo>
                <a:cubicBezTo>
                  <a:pt x="8391" y="10856"/>
                  <a:pt x="8424" y="10830"/>
                  <a:pt x="8424" y="10798"/>
                </a:cubicBezTo>
                <a:lnTo>
                  <a:pt x="8424" y="8590"/>
                </a:lnTo>
                <a:cubicBezTo>
                  <a:pt x="8424" y="8558"/>
                  <a:pt x="8391" y="8530"/>
                  <a:pt x="8349" y="8530"/>
                </a:cubicBezTo>
                <a:lnTo>
                  <a:pt x="4859" y="8530"/>
                </a:lnTo>
                <a:close/>
                <a:moveTo>
                  <a:pt x="11329" y="10498"/>
                </a:moveTo>
                <a:lnTo>
                  <a:pt x="17677" y="10498"/>
                </a:lnTo>
                <a:cubicBezTo>
                  <a:pt x="17715" y="10498"/>
                  <a:pt x="17747" y="10522"/>
                  <a:pt x="17747" y="10552"/>
                </a:cubicBezTo>
                <a:lnTo>
                  <a:pt x="17747" y="11519"/>
                </a:lnTo>
                <a:cubicBezTo>
                  <a:pt x="17747" y="11548"/>
                  <a:pt x="17715" y="11573"/>
                  <a:pt x="17677" y="11573"/>
                </a:cubicBezTo>
                <a:lnTo>
                  <a:pt x="11329" y="11573"/>
                </a:lnTo>
                <a:cubicBezTo>
                  <a:pt x="11291" y="11573"/>
                  <a:pt x="11259" y="11548"/>
                  <a:pt x="11259" y="11519"/>
                </a:cubicBezTo>
                <a:lnTo>
                  <a:pt x="11259" y="10552"/>
                </a:lnTo>
                <a:cubicBezTo>
                  <a:pt x="11259" y="10522"/>
                  <a:pt x="11291" y="10498"/>
                  <a:pt x="11329" y="10498"/>
                </a:cubicBezTo>
                <a:close/>
                <a:moveTo>
                  <a:pt x="3923" y="13182"/>
                </a:moveTo>
                <a:lnTo>
                  <a:pt x="17677" y="13182"/>
                </a:lnTo>
                <a:cubicBezTo>
                  <a:pt x="17715" y="13182"/>
                  <a:pt x="17747" y="13207"/>
                  <a:pt x="17747" y="13236"/>
                </a:cubicBezTo>
                <a:lnTo>
                  <a:pt x="17747" y="14205"/>
                </a:lnTo>
                <a:cubicBezTo>
                  <a:pt x="17747" y="14234"/>
                  <a:pt x="17715" y="14257"/>
                  <a:pt x="17677" y="14257"/>
                </a:cubicBezTo>
                <a:lnTo>
                  <a:pt x="3923" y="14257"/>
                </a:lnTo>
                <a:cubicBezTo>
                  <a:pt x="3885" y="14257"/>
                  <a:pt x="3853" y="14234"/>
                  <a:pt x="3853" y="14205"/>
                </a:cubicBezTo>
                <a:lnTo>
                  <a:pt x="3853" y="13236"/>
                </a:lnTo>
                <a:cubicBezTo>
                  <a:pt x="3853" y="13207"/>
                  <a:pt x="3885" y="13182"/>
                  <a:pt x="3923" y="13182"/>
                </a:cubicBezTo>
                <a:close/>
                <a:moveTo>
                  <a:pt x="3923" y="15866"/>
                </a:moveTo>
                <a:lnTo>
                  <a:pt x="17677" y="15866"/>
                </a:lnTo>
                <a:cubicBezTo>
                  <a:pt x="17715" y="15866"/>
                  <a:pt x="17747" y="15891"/>
                  <a:pt x="17747" y="15920"/>
                </a:cubicBezTo>
                <a:lnTo>
                  <a:pt x="17747" y="16889"/>
                </a:lnTo>
                <a:cubicBezTo>
                  <a:pt x="17747" y="16918"/>
                  <a:pt x="17715" y="16941"/>
                  <a:pt x="17677" y="16941"/>
                </a:cubicBezTo>
                <a:lnTo>
                  <a:pt x="3923" y="16941"/>
                </a:lnTo>
                <a:cubicBezTo>
                  <a:pt x="3885" y="16941"/>
                  <a:pt x="3853" y="16918"/>
                  <a:pt x="3853" y="16889"/>
                </a:cubicBezTo>
                <a:lnTo>
                  <a:pt x="3853" y="15920"/>
                </a:lnTo>
                <a:cubicBezTo>
                  <a:pt x="3853" y="15891"/>
                  <a:pt x="3885" y="15866"/>
                  <a:pt x="3923" y="15866"/>
                </a:cubicBezTo>
                <a:close/>
              </a:path>
            </a:pathLst>
          </a:custGeom>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84" name="Layout Document"/>
          <p:cNvSpPr/>
          <p:nvPr/>
        </p:nvSpPr>
        <p:spPr>
          <a:xfrm>
            <a:off x="5651797" y="8273940"/>
            <a:ext cx="897531" cy="11622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 y="0"/>
                </a:moveTo>
                <a:cubicBezTo>
                  <a:pt x="96" y="0"/>
                  <a:pt x="0" y="74"/>
                  <a:pt x="0" y="164"/>
                </a:cubicBezTo>
                <a:lnTo>
                  <a:pt x="0" y="21438"/>
                </a:lnTo>
                <a:cubicBezTo>
                  <a:pt x="0" y="21528"/>
                  <a:pt x="96" y="21600"/>
                  <a:pt x="213" y="21600"/>
                </a:cubicBezTo>
                <a:lnTo>
                  <a:pt x="21387" y="21600"/>
                </a:lnTo>
                <a:cubicBezTo>
                  <a:pt x="21504" y="21600"/>
                  <a:pt x="21600" y="21528"/>
                  <a:pt x="21600" y="21438"/>
                </a:cubicBezTo>
                <a:lnTo>
                  <a:pt x="21600" y="5897"/>
                </a:lnTo>
                <a:cubicBezTo>
                  <a:pt x="21600" y="5865"/>
                  <a:pt x="21567" y="5839"/>
                  <a:pt x="21525" y="5839"/>
                </a:cubicBezTo>
                <a:lnTo>
                  <a:pt x="14257" y="5839"/>
                </a:lnTo>
                <a:cubicBezTo>
                  <a:pt x="14140" y="5839"/>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2"/>
                  <a:pt x="15185" y="5122"/>
                </a:cubicBezTo>
                <a:lnTo>
                  <a:pt x="21419" y="5122"/>
                </a:lnTo>
                <a:cubicBezTo>
                  <a:pt x="21486" y="5122"/>
                  <a:pt x="21519" y="5059"/>
                  <a:pt x="21472" y="5023"/>
                </a:cubicBezTo>
                <a:lnTo>
                  <a:pt x="15100" y="99"/>
                </a:lnTo>
                <a:cubicBezTo>
                  <a:pt x="15077" y="81"/>
                  <a:pt x="15044" y="77"/>
                  <a:pt x="15018" y="86"/>
                </a:cubicBezTo>
                <a:close/>
                <a:moveTo>
                  <a:pt x="4056" y="7813"/>
                </a:moveTo>
                <a:lnTo>
                  <a:pt x="9151" y="7813"/>
                </a:lnTo>
                <a:cubicBezTo>
                  <a:pt x="9263" y="7813"/>
                  <a:pt x="9352" y="7882"/>
                  <a:pt x="9352" y="7968"/>
                </a:cubicBezTo>
                <a:lnTo>
                  <a:pt x="9352" y="11418"/>
                </a:lnTo>
                <a:cubicBezTo>
                  <a:pt x="9352" y="11504"/>
                  <a:pt x="9263" y="11573"/>
                  <a:pt x="9151" y="11573"/>
                </a:cubicBezTo>
                <a:lnTo>
                  <a:pt x="4056" y="11573"/>
                </a:lnTo>
                <a:cubicBezTo>
                  <a:pt x="3945" y="11573"/>
                  <a:pt x="3853" y="11504"/>
                  <a:pt x="3853" y="11418"/>
                </a:cubicBezTo>
                <a:lnTo>
                  <a:pt x="3853" y="7968"/>
                </a:lnTo>
                <a:cubicBezTo>
                  <a:pt x="3853" y="7882"/>
                  <a:pt x="3945" y="7813"/>
                  <a:pt x="4056" y="7813"/>
                </a:cubicBezTo>
                <a:close/>
                <a:moveTo>
                  <a:pt x="11327" y="7813"/>
                </a:moveTo>
                <a:lnTo>
                  <a:pt x="17677" y="7813"/>
                </a:lnTo>
                <a:cubicBezTo>
                  <a:pt x="17715" y="7813"/>
                  <a:pt x="17747" y="7838"/>
                  <a:pt x="17747" y="7868"/>
                </a:cubicBezTo>
                <a:lnTo>
                  <a:pt x="17747" y="8836"/>
                </a:lnTo>
                <a:cubicBezTo>
                  <a:pt x="17747" y="8866"/>
                  <a:pt x="17715" y="8889"/>
                  <a:pt x="17677" y="8889"/>
                </a:cubicBezTo>
                <a:lnTo>
                  <a:pt x="11329" y="8889"/>
                </a:lnTo>
                <a:cubicBezTo>
                  <a:pt x="11291" y="8889"/>
                  <a:pt x="11259" y="8866"/>
                  <a:pt x="11259" y="8836"/>
                </a:cubicBezTo>
                <a:lnTo>
                  <a:pt x="11259" y="7866"/>
                </a:lnTo>
                <a:cubicBezTo>
                  <a:pt x="11259" y="7837"/>
                  <a:pt x="11291" y="7813"/>
                  <a:pt x="11327" y="7813"/>
                </a:cubicBezTo>
                <a:close/>
                <a:moveTo>
                  <a:pt x="4859" y="8530"/>
                </a:moveTo>
                <a:cubicBezTo>
                  <a:pt x="4817" y="8530"/>
                  <a:pt x="4781" y="8558"/>
                  <a:pt x="4781" y="8590"/>
                </a:cubicBezTo>
                <a:lnTo>
                  <a:pt x="4781" y="10798"/>
                </a:lnTo>
                <a:cubicBezTo>
                  <a:pt x="4781" y="10830"/>
                  <a:pt x="4816" y="10855"/>
                  <a:pt x="4859" y="10856"/>
                </a:cubicBezTo>
                <a:lnTo>
                  <a:pt x="8349" y="10856"/>
                </a:lnTo>
                <a:cubicBezTo>
                  <a:pt x="8391" y="10856"/>
                  <a:pt x="8424" y="10830"/>
                  <a:pt x="8424" y="10798"/>
                </a:cubicBezTo>
                <a:lnTo>
                  <a:pt x="8424" y="8590"/>
                </a:lnTo>
                <a:cubicBezTo>
                  <a:pt x="8424" y="8558"/>
                  <a:pt x="8391" y="8530"/>
                  <a:pt x="8349" y="8530"/>
                </a:cubicBezTo>
                <a:lnTo>
                  <a:pt x="4859" y="8530"/>
                </a:lnTo>
                <a:close/>
                <a:moveTo>
                  <a:pt x="11329" y="10498"/>
                </a:moveTo>
                <a:lnTo>
                  <a:pt x="17677" y="10498"/>
                </a:lnTo>
                <a:cubicBezTo>
                  <a:pt x="17715" y="10498"/>
                  <a:pt x="17747" y="10522"/>
                  <a:pt x="17747" y="10552"/>
                </a:cubicBezTo>
                <a:lnTo>
                  <a:pt x="17747" y="11519"/>
                </a:lnTo>
                <a:cubicBezTo>
                  <a:pt x="17747" y="11548"/>
                  <a:pt x="17715" y="11573"/>
                  <a:pt x="17677" y="11573"/>
                </a:cubicBezTo>
                <a:lnTo>
                  <a:pt x="11329" y="11573"/>
                </a:lnTo>
                <a:cubicBezTo>
                  <a:pt x="11291" y="11573"/>
                  <a:pt x="11259" y="11548"/>
                  <a:pt x="11259" y="11519"/>
                </a:cubicBezTo>
                <a:lnTo>
                  <a:pt x="11259" y="10552"/>
                </a:lnTo>
                <a:cubicBezTo>
                  <a:pt x="11259" y="10522"/>
                  <a:pt x="11291" y="10498"/>
                  <a:pt x="11329" y="10498"/>
                </a:cubicBezTo>
                <a:close/>
                <a:moveTo>
                  <a:pt x="3923" y="13182"/>
                </a:moveTo>
                <a:lnTo>
                  <a:pt x="17677" y="13182"/>
                </a:lnTo>
                <a:cubicBezTo>
                  <a:pt x="17715" y="13182"/>
                  <a:pt x="17747" y="13207"/>
                  <a:pt x="17747" y="13236"/>
                </a:cubicBezTo>
                <a:lnTo>
                  <a:pt x="17747" y="14205"/>
                </a:lnTo>
                <a:cubicBezTo>
                  <a:pt x="17747" y="14234"/>
                  <a:pt x="17715" y="14257"/>
                  <a:pt x="17677" y="14257"/>
                </a:cubicBezTo>
                <a:lnTo>
                  <a:pt x="3923" y="14257"/>
                </a:lnTo>
                <a:cubicBezTo>
                  <a:pt x="3885" y="14257"/>
                  <a:pt x="3853" y="14234"/>
                  <a:pt x="3853" y="14205"/>
                </a:cubicBezTo>
                <a:lnTo>
                  <a:pt x="3853" y="13236"/>
                </a:lnTo>
                <a:cubicBezTo>
                  <a:pt x="3853" y="13207"/>
                  <a:pt x="3885" y="13182"/>
                  <a:pt x="3923" y="13182"/>
                </a:cubicBezTo>
                <a:close/>
                <a:moveTo>
                  <a:pt x="3923" y="15866"/>
                </a:moveTo>
                <a:lnTo>
                  <a:pt x="17677" y="15866"/>
                </a:lnTo>
                <a:cubicBezTo>
                  <a:pt x="17715" y="15866"/>
                  <a:pt x="17747" y="15891"/>
                  <a:pt x="17747" y="15920"/>
                </a:cubicBezTo>
                <a:lnTo>
                  <a:pt x="17747" y="16889"/>
                </a:lnTo>
                <a:cubicBezTo>
                  <a:pt x="17747" y="16918"/>
                  <a:pt x="17715" y="16941"/>
                  <a:pt x="17677" y="16941"/>
                </a:cubicBezTo>
                <a:lnTo>
                  <a:pt x="3923" y="16941"/>
                </a:lnTo>
                <a:cubicBezTo>
                  <a:pt x="3885" y="16941"/>
                  <a:pt x="3853" y="16918"/>
                  <a:pt x="3853" y="16889"/>
                </a:cubicBezTo>
                <a:lnTo>
                  <a:pt x="3853" y="15920"/>
                </a:lnTo>
                <a:cubicBezTo>
                  <a:pt x="3853" y="15891"/>
                  <a:pt x="3885" y="15866"/>
                  <a:pt x="3923" y="15866"/>
                </a:cubicBezTo>
                <a:close/>
              </a:path>
            </a:pathLst>
          </a:custGeom>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85" name="Layout Document"/>
          <p:cNvSpPr/>
          <p:nvPr/>
        </p:nvSpPr>
        <p:spPr>
          <a:xfrm>
            <a:off x="5651797" y="6942550"/>
            <a:ext cx="897531" cy="11622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 y="0"/>
                </a:moveTo>
                <a:cubicBezTo>
                  <a:pt x="96" y="0"/>
                  <a:pt x="0" y="74"/>
                  <a:pt x="0" y="164"/>
                </a:cubicBezTo>
                <a:lnTo>
                  <a:pt x="0" y="21438"/>
                </a:lnTo>
                <a:cubicBezTo>
                  <a:pt x="0" y="21528"/>
                  <a:pt x="96" y="21600"/>
                  <a:pt x="213" y="21600"/>
                </a:cubicBezTo>
                <a:lnTo>
                  <a:pt x="21387" y="21600"/>
                </a:lnTo>
                <a:cubicBezTo>
                  <a:pt x="21504" y="21600"/>
                  <a:pt x="21600" y="21528"/>
                  <a:pt x="21600" y="21438"/>
                </a:cubicBezTo>
                <a:lnTo>
                  <a:pt x="21600" y="5897"/>
                </a:lnTo>
                <a:cubicBezTo>
                  <a:pt x="21600" y="5865"/>
                  <a:pt x="21567" y="5839"/>
                  <a:pt x="21525" y="5839"/>
                </a:cubicBezTo>
                <a:lnTo>
                  <a:pt x="14257" y="5839"/>
                </a:lnTo>
                <a:cubicBezTo>
                  <a:pt x="14140" y="5839"/>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2"/>
                  <a:pt x="15185" y="5122"/>
                </a:cubicBezTo>
                <a:lnTo>
                  <a:pt x="21419" y="5122"/>
                </a:lnTo>
                <a:cubicBezTo>
                  <a:pt x="21486" y="5122"/>
                  <a:pt x="21519" y="5059"/>
                  <a:pt x="21472" y="5023"/>
                </a:cubicBezTo>
                <a:lnTo>
                  <a:pt x="15100" y="99"/>
                </a:lnTo>
                <a:cubicBezTo>
                  <a:pt x="15077" y="81"/>
                  <a:pt x="15044" y="77"/>
                  <a:pt x="15018" y="86"/>
                </a:cubicBezTo>
                <a:close/>
                <a:moveTo>
                  <a:pt x="4056" y="7813"/>
                </a:moveTo>
                <a:lnTo>
                  <a:pt x="9151" y="7813"/>
                </a:lnTo>
                <a:cubicBezTo>
                  <a:pt x="9263" y="7813"/>
                  <a:pt x="9352" y="7882"/>
                  <a:pt x="9352" y="7968"/>
                </a:cubicBezTo>
                <a:lnTo>
                  <a:pt x="9352" y="11418"/>
                </a:lnTo>
                <a:cubicBezTo>
                  <a:pt x="9352" y="11504"/>
                  <a:pt x="9263" y="11573"/>
                  <a:pt x="9151" y="11573"/>
                </a:cubicBezTo>
                <a:lnTo>
                  <a:pt x="4056" y="11573"/>
                </a:lnTo>
                <a:cubicBezTo>
                  <a:pt x="3945" y="11573"/>
                  <a:pt x="3853" y="11504"/>
                  <a:pt x="3853" y="11418"/>
                </a:cubicBezTo>
                <a:lnTo>
                  <a:pt x="3853" y="7968"/>
                </a:lnTo>
                <a:cubicBezTo>
                  <a:pt x="3853" y="7882"/>
                  <a:pt x="3945" y="7813"/>
                  <a:pt x="4056" y="7813"/>
                </a:cubicBezTo>
                <a:close/>
                <a:moveTo>
                  <a:pt x="11327" y="7813"/>
                </a:moveTo>
                <a:lnTo>
                  <a:pt x="17677" y="7813"/>
                </a:lnTo>
                <a:cubicBezTo>
                  <a:pt x="17715" y="7813"/>
                  <a:pt x="17747" y="7838"/>
                  <a:pt x="17747" y="7868"/>
                </a:cubicBezTo>
                <a:lnTo>
                  <a:pt x="17747" y="8836"/>
                </a:lnTo>
                <a:cubicBezTo>
                  <a:pt x="17747" y="8866"/>
                  <a:pt x="17715" y="8889"/>
                  <a:pt x="17677" y="8889"/>
                </a:cubicBezTo>
                <a:lnTo>
                  <a:pt x="11329" y="8889"/>
                </a:lnTo>
                <a:cubicBezTo>
                  <a:pt x="11291" y="8889"/>
                  <a:pt x="11259" y="8866"/>
                  <a:pt x="11259" y="8836"/>
                </a:cubicBezTo>
                <a:lnTo>
                  <a:pt x="11259" y="7866"/>
                </a:lnTo>
                <a:cubicBezTo>
                  <a:pt x="11259" y="7837"/>
                  <a:pt x="11291" y="7813"/>
                  <a:pt x="11327" y="7813"/>
                </a:cubicBezTo>
                <a:close/>
                <a:moveTo>
                  <a:pt x="4859" y="8530"/>
                </a:moveTo>
                <a:cubicBezTo>
                  <a:pt x="4817" y="8530"/>
                  <a:pt x="4781" y="8558"/>
                  <a:pt x="4781" y="8590"/>
                </a:cubicBezTo>
                <a:lnTo>
                  <a:pt x="4781" y="10798"/>
                </a:lnTo>
                <a:cubicBezTo>
                  <a:pt x="4781" y="10830"/>
                  <a:pt x="4816" y="10855"/>
                  <a:pt x="4859" y="10856"/>
                </a:cubicBezTo>
                <a:lnTo>
                  <a:pt x="8349" y="10856"/>
                </a:lnTo>
                <a:cubicBezTo>
                  <a:pt x="8391" y="10856"/>
                  <a:pt x="8424" y="10830"/>
                  <a:pt x="8424" y="10798"/>
                </a:cubicBezTo>
                <a:lnTo>
                  <a:pt x="8424" y="8590"/>
                </a:lnTo>
                <a:cubicBezTo>
                  <a:pt x="8424" y="8558"/>
                  <a:pt x="8391" y="8530"/>
                  <a:pt x="8349" y="8530"/>
                </a:cubicBezTo>
                <a:lnTo>
                  <a:pt x="4859" y="8530"/>
                </a:lnTo>
                <a:close/>
                <a:moveTo>
                  <a:pt x="11329" y="10498"/>
                </a:moveTo>
                <a:lnTo>
                  <a:pt x="17677" y="10498"/>
                </a:lnTo>
                <a:cubicBezTo>
                  <a:pt x="17715" y="10498"/>
                  <a:pt x="17747" y="10522"/>
                  <a:pt x="17747" y="10552"/>
                </a:cubicBezTo>
                <a:lnTo>
                  <a:pt x="17747" y="11519"/>
                </a:lnTo>
                <a:cubicBezTo>
                  <a:pt x="17747" y="11548"/>
                  <a:pt x="17715" y="11573"/>
                  <a:pt x="17677" y="11573"/>
                </a:cubicBezTo>
                <a:lnTo>
                  <a:pt x="11329" y="11573"/>
                </a:lnTo>
                <a:cubicBezTo>
                  <a:pt x="11291" y="11573"/>
                  <a:pt x="11259" y="11548"/>
                  <a:pt x="11259" y="11519"/>
                </a:cubicBezTo>
                <a:lnTo>
                  <a:pt x="11259" y="10552"/>
                </a:lnTo>
                <a:cubicBezTo>
                  <a:pt x="11259" y="10522"/>
                  <a:pt x="11291" y="10498"/>
                  <a:pt x="11329" y="10498"/>
                </a:cubicBezTo>
                <a:close/>
                <a:moveTo>
                  <a:pt x="3923" y="13182"/>
                </a:moveTo>
                <a:lnTo>
                  <a:pt x="17677" y="13182"/>
                </a:lnTo>
                <a:cubicBezTo>
                  <a:pt x="17715" y="13182"/>
                  <a:pt x="17747" y="13207"/>
                  <a:pt x="17747" y="13236"/>
                </a:cubicBezTo>
                <a:lnTo>
                  <a:pt x="17747" y="14205"/>
                </a:lnTo>
                <a:cubicBezTo>
                  <a:pt x="17747" y="14234"/>
                  <a:pt x="17715" y="14257"/>
                  <a:pt x="17677" y="14257"/>
                </a:cubicBezTo>
                <a:lnTo>
                  <a:pt x="3923" y="14257"/>
                </a:lnTo>
                <a:cubicBezTo>
                  <a:pt x="3885" y="14257"/>
                  <a:pt x="3853" y="14234"/>
                  <a:pt x="3853" y="14205"/>
                </a:cubicBezTo>
                <a:lnTo>
                  <a:pt x="3853" y="13236"/>
                </a:lnTo>
                <a:cubicBezTo>
                  <a:pt x="3853" y="13207"/>
                  <a:pt x="3885" y="13182"/>
                  <a:pt x="3923" y="13182"/>
                </a:cubicBezTo>
                <a:close/>
                <a:moveTo>
                  <a:pt x="3923" y="15866"/>
                </a:moveTo>
                <a:lnTo>
                  <a:pt x="17677" y="15866"/>
                </a:lnTo>
                <a:cubicBezTo>
                  <a:pt x="17715" y="15866"/>
                  <a:pt x="17747" y="15891"/>
                  <a:pt x="17747" y="15920"/>
                </a:cubicBezTo>
                <a:lnTo>
                  <a:pt x="17747" y="16889"/>
                </a:lnTo>
                <a:cubicBezTo>
                  <a:pt x="17747" y="16918"/>
                  <a:pt x="17715" y="16941"/>
                  <a:pt x="17677" y="16941"/>
                </a:cubicBezTo>
                <a:lnTo>
                  <a:pt x="3923" y="16941"/>
                </a:lnTo>
                <a:cubicBezTo>
                  <a:pt x="3885" y="16941"/>
                  <a:pt x="3853" y="16918"/>
                  <a:pt x="3853" y="16889"/>
                </a:cubicBezTo>
                <a:lnTo>
                  <a:pt x="3853" y="15920"/>
                </a:lnTo>
                <a:cubicBezTo>
                  <a:pt x="3853" y="15891"/>
                  <a:pt x="3885" y="15866"/>
                  <a:pt x="3923" y="15866"/>
                </a:cubicBezTo>
                <a:close/>
              </a:path>
            </a:pathLst>
          </a:custGeom>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86" name="Layout Document"/>
          <p:cNvSpPr/>
          <p:nvPr/>
        </p:nvSpPr>
        <p:spPr>
          <a:xfrm>
            <a:off x="5651797" y="5611159"/>
            <a:ext cx="897531" cy="11622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 y="0"/>
                </a:moveTo>
                <a:cubicBezTo>
                  <a:pt x="96" y="0"/>
                  <a:pt x="0" y="74"/>
                  <a:pt x="0" y="164"/>
                </a:cubicBezTo>
                <a:lnTo>
                  <a:pt x="0" y="21438"/>
                </a:lnTo>
                <a:cubicBezTo>
                  <a:pt x="0" y="21528"/>
                  <a:pt x="96" y="21600"/>
                  <a:pt x="213" y="21600"/>
                </a:cubicBezTo>
                <a:lnTo>
                  <a:pt x="21387" y="21600"/>
                </a:lnTo>
                <a:cubicBezTo>
                  <a:pt x="21504" y="21600"/>
                  <a:pt x="21600" y="21528"/>
                  <a:pt x="21600" y="21438"/>
                </a:cubicBezTo>
                <a:lnTo>
                  <a:pt x="21600" y="5897"/>
                </a:lnTo>
                <a:cubicBezTo>
                  <a:pt x="21600" y="5865"/>
                  <a:pt x="21567" y="5839"/>
                  <a:pt x="21525" y="5839"/>
                </a:cubicBezTo>
                <a:lnTo>
                  <a:pt x="14257" y="5839"/>
                </a:lnTo>
                <a:cubicBezTo>
                  <a:pt x="14140" y="5839"/>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2"/>
                  <a:pt x="15185" y="5122"/>
                </a:cubicBezTo>
                <a:lnTo>
                  <a:pt x="21419" y="5122"/>
                </a:lnTo>
                <a:cubicBezTo>
                  <a:pt x="21486" y="5122"/>
                  <a:pt x="21519" y="5059"/>
                  <a:pt x="21472" y="5023"/>
                </a:cubicBezTo>
                <a:lnTo>
                  <a:pt x="15100" y="99"/>
                </a:lnTo>
                <a:cubicBezTo>
                  <a:pt x="15077" y="81"/>
                  <a:pt x="15044" y="77"/>
                  <a:pt x="15018" y="86"/>
                </a:cubicBezTo>
                <a:close/>
                <a:moveTo>
                  <a:pt x="4056" y="7813"/>
                </a:moveTo>
                <a:lnTo>
                  <a:pt x="9151" y="7813"/>
                </a:lnTo>
                <a:cubicBezTo>
                  <a:pt x="9263" y="7813"/>
                  <a:pt x="9352" y="7882"/>
                  <a:pt x="9352" y="7968"/>
                </a:cubicBezTo>
                <a:lnTo>
                  <a:pt x="9352" y="11418"/>
                </a:lnTo>
                <a:cubicBezTo>
                  <a:pt x="9352" y="11504"/>
                  <a:pt x="9263" y="11573"/>
                  <a:pt x="9151" y="11573"/>
                </a:cubicBezTo>
                <a:lnTo>
                  <a:pt x="4056" y="11573"/>
                </a:lnTo>
                <a:cubicBezTo>
                  <a:pt x="3945" y="11573"/>
                  <a:pt x="3853" y="11504"/>
                  <a:pt x="3853" y="11418"/>
                </a:cubicBezTo>
                <a:lnTo>
                  <a:pt x="3853" y="7968"/>
                </a:lnTo>
                <a:cubicBezTo>
                  <a:pt x="3853" y="7882"/>
                  <a:pt x="3945" y="7813"/>
                  <a:pt x="4056" y="7813"/>
                </a:cubicBezTo>
                <a:close/>
                <a:moveTo>
                  <a:pt x="11327" y="7813"/>
                </a:moveTo>
                <a:lnTo>
                  <a:pt x="17677" y="7813"/>
                </a:lnTo>
                <a:cubicBezTo>
                  <a:pt x="17715" y="7813"/>
                  <a:pt x="17747" y="7838"/>
                  <a:pt x="17747" y="7868"/>
                </a:cubicBezTo>
                <a:lnTo>
                  <a:pt x="17747" y="8836"/>
                </a:lnTo>
                <a:cubicBezTo>
                  <a:pt x="17747" y="8866"/>
                  <a:pt x="17715" y="8889"/>
                  <a:pt x="17677" y="8889"/>
                </a:cubicBezTo>
                <a:lnTo>
                  <a:pt x="11329" y="8889"/>
                </a:lnTo>
                <a:cubicBezTo>
                  <a:pt x="11291" y="8889"/>
                  <a:pt x="11259" y="8866"/>
                  <a:pt x="11259" y="8836"/>
                </a:cubicBezTo>
                <a:lnTo>
                  <a:pt x="11259" y="7866"/>
                </a:lnTo>
                <a:cubicBezTo>
                  <a:pt x="11259" y="7837"/>
                  <a:pt x="11291" y="7813"/>
                  <a:pt x="11327" y="7813"/>
                </a:cubicBezTo>
                <a:close/>
                <a:moveTo>
                  <a:pt x="4859" y="8530"/>
                </a:moveTo>
                <a:cubicBezTo>
                  <a:pt x="4817" y="8530"/>
                  <a:pt x="4781" y="8558"/>
                  <a:pt x="4781" y="8590"/>
                </a:cubicBezTo>
                <a:lnTo>
                  <a:pt x="4781" y="10798"/>
                </a:lnTo>
                <a:cubicBezTo>
                  <a:pt x="4781" y="10830"/>
                  <a:pt x="4816" y="10855"/>
                  <a:pt x="4859" y="10856"/>
                </a:cubicBezTo>
                <a:lnTo>
                  <a:pt x="8349" y="10856"/>
                </a:lnTo>
                <a:cubicBezTo>
                  <a:pt x="8391" y="10856"/>
                  <a:pt x="8424" y="10830"/>
                  <a:pt x="8424" y="10798"/>
                </a:cubicBezTo>
                <a:lnTo>
                  <a:pt x="8424" y="8590"/>
                </a:lnTo>
                <a:cubicBezTo>
                  <a:pt x="8424" y="8558"/>
                  <a:pt x="8391" y="8530"/>
                  <a:pt x="8349" y="8530"/>
                </a:cubicBezTo>
                <a:lnTo>
                  <a:pt x="4859" y="8530"/>
                </a:lnTo>
                <a:close/>
                <a:moveTo>
                  <a:pt x="11329" y="10498"/>
                </a:moveTo>
                <a:lnTo>
                  <a:pt x="17677" y="10498"/>
                </a:lnTo>
                <a:cubicBezTo>
                  <a:pt x="17715" y="10498"/>
                  <a:pt x="17747" y="10522"/>
                  <a:pt x="17747" y="10552"/>
                </a:cubicBezTo>
                <a:lnTo>
                  <a:pt x="17747" y="11519"/>
                </a:lnTo>
                <a:cubicBezTo>
                  <a:pt x="17747" y="11548"/>
                  <a:pt x="17715" y="11573"/>
                  <a:pt x="17677" y="11573"/>
                </a:cubicBezTo>
                <a:lnTo>
                  <a:pt x="11329" y="11573"/>
                </a:lnTo>
                <a:cubicBezTo>
                  <a:pt x="11291" y="11573"/>
                  <a:pt x="11259" y="11548"/>
                  <a:pt x="11259" y="11519"/>
                </a:cubicBezTo>
                <a:lnTo>
                  <a:pt x="11259" y="10552"/>
                </a:lnTo>
                <a:cubicBezTo>
                  <a:pt x="11259" y="10522"/>
                  <a:pt x="11291" y="10498"/>
                  <a:pt x="11329" y="10498"/>
                </a:cubicBezTo>
                <a:close/>
                <a:moveTo>
                  <a:pt x="3923" y="13182"/>
                </a:moveTo>
                <a:lnTo>
                  <a:pt x="17677" y="13182"/>
                </a:lnTo>
                <a:cubicBezTo>
                  <a:pt x="17715" y="13182"/>
                  <a:pt x="17747" y="13207"/>
                  <a:pt x="17747" y="13236"/>
                </a:cubicBezTo>
                <a:lnTo>
                  <a:pt x="17747" y="14205"/>
                </a:lnTo>
                <a:cubicBezTo>
                  <a:pt x="17747" y="14234"/>
                  <a:pt x="17715" y="14257"/>
                  <a:pt x="17677" y="14257"/>
                </a:cubicBezTo>
                <a:lnTo>
                  <a:pt x="3923" y="14257"/>
                </a:lnTo>
                <a:cubicBezTo>
                  <a:pt x="3885" y="14257"/>
                  <a:pt x="3853" y="14234"/>
                  <a:pt x="3853" y="14205"/>
                </a:cubicBezTo>
                <a:lnTo>
                  <a:pt x="3853" y="13236"/>
                </a:lnTo>
                <a:cubicBezTo>
                  <a:pt x="3853" y="13207"/>
                  <a:pt x="3885" y="13182"/>
                  <a:pt x="3923" y="13182"/>
                </a:cubicBezTo>
                <a:close/>
                <a:moveTo>
                  <a:pt x="3923" y="15866"/>
                </a:moveTo>
                <a:lnTo>
                  <a:pt x="17677" y="15866"/>
                </a:lnTo>
                <a:cubicBezTo>
                  <a:pt x="17715" y="15866"/>
                  <a:pt x="17747" y="15891"/>
                  <a:pt x="17747" y="15920"/>
                </a:cubicBezTo>
                <a:lnTo>
                  <a:pt x="17747" y="16889"/>
                </a:lnTo>
                <a:cubicBezTo>
                  <a:pt x="17747" y="16918"/>
                  <a:pt x="17715" y="16941"/>
                  <a:pt x="17677" y="16941"/>
                </a:cubicBezTo>
                <a:lnTo>
                  <a:pt x="3923" y="16941"/>
                </a:lnTo>
                <a:cubicBezTo>
                  <a:pt x="3885" y="16941"/>
                  <a:pt x="3853" y="16918"/>
                  <a:pt x="3853" y="16889"/>
                </a:cubicBezTo>
                <a:lnTo>
                  <a:pt x="3853" y="15920"/>
                </a:lnTo>
                <a:cubicBezTo>
                  <a:pt x="3853" y="15891"/>
                  <a:pt x="3885" y="15866"/>
                  <a:pt x="3923" y="15866"/>
                </a:cubicBezTo>
                <a:close/>
              </a:path>
            </a:pathLst>
          </a:custGeom>
          <a:ln w="12700">
            <a:miter lim="400000"/>
          </a:ln>
        </p:spPr>
        <p:txBody>
          <a:bodyPr lIns="50800" tIns="50800" rIns="50800" bIns="50800" anchor="ctr"/>
          <a:lstStyle/>
          <a:p>
            <a:pPr algn="ctr" defTabSz="825500">
              <a:lnSpc>
                <a:spcPct val="100000"/>
              </a:lnSpc>
              <a:spcBef>
                <a:spcPts val="0"/>
              </a:spcBef>
              <a:defRPr sz="3200">
                <a:latin typeface="Helvetica Neue Medium"/>
                <a:ea typeface="Helvetica Neue Medium"/>
                <a:cs typeface="Helvetica Neue Medium"/>
                <a:sym typeface="Helvetica Neue Medium"/>
              </a:defRPr>
            </a:pPr>
          </a:p>
        </p:txBody>
      </p:sp>
      <p:sp>
        <p:nvSpPr>
          <p:cNvPr id="287" name="firmware.yml"/>
          <p:cNvSpPr txBox="1"/>
          <p:nvPr/>
        </p:nvSpPr>
        <p:spPr>
          <a:xfrm>
            <a:off x="1459427" y="4391682"/>
            <a:ext cx="3208779" cy="76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300">
                <a:solidFill>
                  <a:schemeClr val="accent1">
                    <a:lumOff val="-13575"/>
                  </a:schemeClr>
                </a:solidFill>
                <a:latin typeface="+mn-lt"/>
                <a:ea typeface="+mn-ea"/>
                <a:cs typeface="+mn-cs"/>
                <a:sym typeface="Helvetica"/>
              </a:defRPr>
            </a:lvl1pPr>
          </a:lstStyle>
          <a:p>
            <a:pPr/>
            <a:r>
              <a:t>firmware.yml</a:t>
            </a:r>
          </a:p>
        </p:txBody>
      </p:sp>
      <p:sp>
        <p:nvSpPr>
          <p:cNvPr id="288" name="esxconfig.yml"/>
          <p:cNvSpPr txBox="1"/>
          <p:nvPr/>
        </p:nvSpPr>
        <p:spPr>
          <a:xfrm>
            <a:off x="1530517" y="5723072"/>
            <a:ext cx="3422366" cy="76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300">
                <a:solidFill>
                  <a:schemeClr val="accent1">
                    <a:lumOff val="-13575"/>
                  </a:schemeClr>
                </a:solidFill>
                <a:latin typeface="+mn-lt"/>
                <a:ea typeface="+mn-ea"/>
                <a:cs typeface="+mn-cs"/>
                <a:sym typeface="Helvetica"/>
              </a:defRPr>
            </a:lvl1pPr>
          </a:lstStyle>
          <a:p>
            <a:pPr/>
            <a:r>
              <a:t>esxconfig.yml</a:t>
            </a:r>
          </a:p>
        </p:txBody>
      </p:sp>
      <p:sp>
        <p:nvSpPr>
          <p:cNvPr id="289" name="vm.yml"/>
          <p:cNvSpPr txBox="1"/>
          <p:nvPr/>
        </p:nvSpPr>
        <p:spPr>
          <a:xfrm>
            <a:off x="1459427" y="7225176"/>
            <a:ext cx="1843262" cy="76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300">
                <a:solidFill>
                  <a:schemeClr val="accent1">
                    <a:lumOff val="-13575"/>
                  </a:schemeClr>
                </a:solidFill>
                <a:latin typeface="+mn-lt"/>
                <a:ea typeface="+mn-ea"/>
                <a:cs typeface="+mn-cs"/>
                <a:sym typeface="Helvetica"/>
              </a:defRPr>
            </a:lvl1pPr>
          </a:lstStyle>
          <a:p>
            <a:pPr/>
            <a:r>
              <a:t>vm.yml</a:t>
            </a:r>
          </a:p>
        </p:txBody>
      </p:sp>
      <p:sp>
        <p:nvSpPr>
          <p:cNvPr id="290" name="container.yml"/>
          <p:cNvSpPr txBox="1"/>
          <p:nvPr/>
        </p:nvSpPr>
        <p:spPr>
          <a:xfrm>
            <a:off x="1388336" y="8385854"/>
            <a:ext cx="3331972" cy="762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300">
                <a:solidFill>
                  <a:schemeClr val="accent1">
                    <a:lumOff val="-13575"/>
                  </a:schemeClr>
                </a:solidFill>
                <a:latin typeface="+mn-lt"/>
                <a:ea typeface="+mn-ea"/>
                <a:cs typeface="+mn-cs"/>
                <a:sym typeface="Helvetica"/>
              </a:defRPr>
            </a:lvl1pPr>
          </a:lstStyle>
          <a:p>
            <a:pPr/>
            <a:r>
              <a:t>container.yml</a:t>
            </a:r>
          </a:p>
        </p:txBody>
      </p:sp>
      <p:pic>
        <p:nvPicPr>
          <p:cNvPr id="291" name="pasted-movie.png" descr="pasted-movie.png"/>
          <p:cNvPicPr>
            <a:picLocks noChangeAspect="1"/>
          </p:cNvPicPr>
          <p:nvPr/>
        </p:nvPicPr>
        <p:blipFill>
          <a:blip r:embed="rId3">
            <a:extLst/>
          </a:blip>
          <a:stretch>
            <a:fillRect/>
          </a:stretch>
        </p:blipFill>
        <p:spPr>
          <a:xfrm>
            <a:off x="5369738" y="2254227"/>
            <a:ext cx="1461649" cy="1461650"/>
          </a:xfrm>
          <a:prstGeom prst="rect">
            <a:avLst/>
          </a:prstGeom>
          <a:ln w="12700">
            <a:miter lim="400000"/>
          </a:ln>
        </p:spPr>
      </p:pic>
      <p:sp>
        <p:nvSpPr>
          <p:cNvPr id="292" name="Line"/>
          <p:cNvSpPr/>
          <p:nvPr/>
        </p:nvSpPr>
        <p:spPr>
          <a:xfrm>
            <a:off x="1488089" y="9894892"/>
            <a:ext cx="21739577" cy="1"/>
          </a:xfrm>
          <a:prstGeom prst="line">
            <a:avLst/>
          </a:prstGeom>
          <a:ln w="12700">
            <a:miter lim="400000"/>
          </a:ln>
        </p:spPr>
        <p:txBody>
          <a:bodyPr lIns="50800" tIns="50800" rIns="50800" bIns="50800" anchor="ctr"/>
          <a:lstStyle/>
          <a:p>
            <a:pPr/>
          </a:p>
        </p:txBody>
      </p:sp>
      <p:sp>
        <p:nvSpPr>
          <p:cNvPr id="293" name="Declarative source of truth for entire stack"/>
          <p:cNvSpPr txBox="1"/>
          <p:nvPr/>
        </p:nvSpPr>
        <p:spPr>
          <a:xfrm>
            <a:off x="1401027" y="10048058"/>
            <a:ext cx="5537977" cy="21640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mn-lt"/>
                <a:ea typeface="+mn-ea"/>
                <a:cs typeface="+mn-cs"/>
                <a:sym typeface="Helvetica"/>
              </a:defRPr>
            </a:lvl1pPr>
          </a:lstStyle>
          <a:p>
            <a:pPr/>
            <a:r>
              <a:t>Declarative source of truth for entire stack</a:t>
            </a:r>
          </a:p>
        </p:txBody>
      </p:sp>
      <p:sp>
        <p:nvSpPr>
          <p:cNvPr id="294" name="Update to source of truth triggers pipeline"/>
          <p:cNvSpPr txBox="1"/>
          <p:nvPr/>
        </p:nvSpPr>
        <p:spPr>
          <a:xfrm>
            <a:off x="9251105" y="10166258"/>
            <a:ext cx="6117979" cy="1501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mn-lt"/>
                <a:ea typeface="+mn-ea"/>
                <a:cs typeface="+mn-cs"/>
                <a:sym typeface="Helvetica"/>
              </a:defRPr>
            </a:lvl1pPr>
          </a:lstStyle>
          <a:p>
            <a:pPr/>
            <a:r>
              <a:t>Update to source of truth triggers pipeline</a:t>
            </a:r>
          </a:p>
        </p:txBody>
      </p:sp>
      <p:pic>
        <p:nvPicPr>
          <p:cNvPr id="295" name="pasted-movie.png" descr="pasted-movie.png"/>
          <p:cNvPicPr>
            <a:picLocks noChangeAspect="1"/>
          </p:cNvPicPr>
          <p:nvPr/>
        </p:nvPicPr>
        <p:blipFill>
          <a:blip r:embed="rId4">
            <a:extLst/>
          </a:blip>
          <a:stretch>
            <a:fillRect/>
          </a:stretch>
        </p:blipFill>
        <p:spPr>
          <a:xfrm>
            <a:off x="7901116" y="4752937"/>
            <a:ext cx="8038111" cy="3499740"/>
          </a:xfrm>
          <a:prstGeom prst="rect">
            <a:avLst/>
          </a:prstGeom>
          <a:ln w="12700">
            <a:miter lim="400000"/>
          </a:ln>
        </p:spPr>
      </p:pic>
      <p:sp>
        <p:nvSpPr>
          <p:cNvPr id="296" name="Configuration pulled and realised by each device"/>
          <p:cNvSpPr txBox="1"/>
          <p:nvPr/>
        </p:nvSpPr>
        <p:spPr>
          <a:xfrm>
            <a:off x="17391184" y="10048058"/>
            <a:ext cx="6117980" cy="21640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mn-lt"/>
                <a:ea typeface="+mn-ea"/>
                <a:cs typeface="+mn-cs"/>
                <a:sym typeface="Helvetica"/>
              </a:defRPr>
            </a:lvl1pPr>
          </a:lstStyle>
          <a:p>
            <a:pPr/>
            <a:r>
              <a:t>Configuration pulled and realised by each device</a:t>
            </a:r>
          </a:p>
        </p:txBody>
      </p:sp>
      <p:pic>
        <p:nvPicPr>
          <p:cNvPr id="297" name="pasted-movie.png" descr="pasted-movie.png"/>
          <p:cNvPicPr>
            <a:picLocks noChangeAspect="1"/>
          </p:cNvPicPr>
          <p:nvPr/>
        </p:nvPicPr>
        <p:blipFill>
          <a:blip r:embed="rId5">
            <a:extLst/>
          </a:blip>
          <a:stretch>
            <a:fillRect/>
          </a:stretch>
        </p:blipFill>
        <p:spPr>
          <a:xfrm>
            <a:off x="17259264" y="7956483"/>
            <a:ext cx="1620742" cy="1620742"/>
          </a:xfrm>
          <a:prstGeom prst="rect">
            <a:avLst/>
          </a:prstGeom>
          <a:ln w="12700">
            <a:miter lim="400000"/>
          </a:ln>
        </p:spPr>
      </p:pic>
      <p:pic>
        <p:nvPicPr>
          <p:cNvPr id="298" name="pasted-movie.png" descr="pasted-movie.png"/>
          <p:cNvPicPr>
            <a:picLocks noChangeAspect="1"/>
          </p:cNvPicPr>
          <p:nvPr/>
        </p:nvPicPr>
        <p:blipFill>
          <a:blip r:embed="rId5">
            <a:extLst/>
          </a:blip>
          <a:stretch>
            <a:fillRect/>
          </a:stretch>
        </p:blipFill>
        <p:spPr>
          <a:xfrm>
            <a:off x="20908570" y="7956483"/>
            <a:ext cx="1620742" cy="1620742"/>
          </a:xfrm>
          <a:prstGeom prst="rect">
            <a:avLst/>
          </a:prstGeom>
          <a:ln w="12700">
            <a:miter lim="400000"/>
          </a:ln>
        </p:spPr>
      </p:pic>
      <p:pic>
        <p:nvPicPr>
          <p:cNvPr id="299" name="pasted-movie.png" descr="pasted-movie.png"/>
          <p:cNvPicPr>
            <a:picLocks noChangeAspect="1"/>
          </p:cNvPicPr>
          <p:nvPr/>
        </p:nvPicPr>
        <p:blipFill>
          <a:blip r:embed="rId5">
            <a:extLst/>
          </a:blip>
          <a:stretch>
            <a:fillRect/>
          </a:stretch>
        </p:blipFill>
        <p:spPr>
          <a:xfrm>
            <a:off x="19083917" y="7956483"/>
            <a:ext cx="1620742" cy="1620742"/>
          </a:xfrm>
          <a:prstGeom prst="rect">
            <a:avLst/>
          </a:prstGeom>
          <a:ln w="12700">
            <a:miter lim="400000"/>
          </a:ln>
        </p:spPr>
      </p:pic>
      <p:pic>
        <p:nvPicPr>
          <p:cNvPr id="300" name="pasted-movie.png" descr="pasted-movie.png"/>
          <p:cNvPicPr>
            <a:picLocks noChangeAspect="1"/>
          </p:cNvPicPr>
          <p:nvPr/>
        </p:nvPicPr>
        <p:blipFill>
          <a:blip r:embed="rId5">
            <a:extLst/>
          </a:blip>
          <a:stretch>
            <a:fillRect/>
          </a:stretch>
        </p:blipFill>
        <p:spPr>
          <a:xfrm>
            <a:off x="17259264" y="6564050"/>
            <a:ext cx="1620742" cy="1620742"/>
          </a:xfrm>
          <a:prstGeom prst="rect">
            <a:avLst/>
          </a:prstGeom>
          <a:ln w="12700">
            <a:miter lim="400000"/>
          </a:ln>
        </p:spPr>
      </p:pic>
      <p:pic>
        <p:nvPicPr>
          <p:cNvPr id="301" name="pasted-movie.png" descr="pasted-movie.png"/>
          <p:cNvPicPr>
            <a:picLocks noChangeAspect="1"/>
          </p:cNvPicPr>
          <p:nvPr/>
        </p:nvPicPr>
        <p:blipFill>
          <a:blip r:embed="rId5">
            <a:extLst/>
          </a:blip>
          <a:stretch>
            <a:fillRect/>
          </a:stretch>
        </p:blipFill>
        <p:spPr>
          <a:xfrm>
            <a:off x="20908570" y="6564050"/>
            <a:ext cx="1620742" cy="1620742"/>
          </a:xfrm>
          <a:prstGeom prst="rect">
            <a:avLst/>
          </a:prstGeom>
          <a:ln w="12700">
            <a:miter lim="400000"/>
          </a:ln>
        </p:spPr>
      </p:pic>
      <p:pic>
        <p:nvPicPr>
          <p:cNvPr id="302" name="pasted-movie.png" descr="pasted-movie.png"/>
          <p:cNvPicPr>
            <a:picLocks noChangeAspect="1"/>
          </p:cNvPicPr>
          <p:nvPr/>
        </p:nvPicPr>
        <p:blipFill>
          <a:blip r:embed="rId5">
            <a:extLst/>
          </a:blip>
          <a:stretch>
            <a:fillRect/>
          </a:stretch>
        </p:blipFill>
        <p:spPr>
          <a:xfrm>
            <a:off x="19083917" y="6564050"/>
            <a:ext cx="1620742" cy="1620742"/>
          </a:xfrm>
          <a:prstGeom prst="rect">
            <a:avLst/>
          </a:prstGeom>
          <a:ln w="12700">
            <a:miter lim="400000"/>
          </a:ln>
        </p:spPr>
      </p:pic>
      <p:pic>
        <p:nvPicPr>
          <p:cNvPr id="303" name="pasted-movie.png" descr="pasted-movie.png"/>
          <p:cNvPicPr>
            <a:picLocks noChangeAspect="1"/>
          </p:cNvPicPr>
          <p:nvPr/>
        </p:nvPicPr>
        <p:blipFill>
          <a:blip r:embed="rId5">
            <a:extLst/>
          </a:blip>
          <a:stretch>
            <a:fillRect/>
          </a:stretch>
        </p:blipFill>
        <p:spPr>
          <a:xfrm>
            <a:off x="17259264" y="5171616"/>
            <a:ext cx="1620742" cy="1620742"/>
          </a:xfrm>
          <a:prstGeom prst="rect">
            <a:avLst/>
          </a:prstGeom>
          <a:ln w="12700">
            <a:miter lim="400000"/>
          </a:ln>
        </p:spPr>
      </p:pic>
      <p:pic>
        <p:nvPicPr>
          <p:cNvPr id="304" name="pasted-movie.png" descr="pasted-movie.png"/>
          <p:cNvPicPr>
            <a:picLocks noChangeAspect="1"/>
          </p:cNvPicPr>
          <p:nvPr/>
        </p:nvPicPr>
        <p:blipFill>
          <a:blip r:embed="rId5">
            <a:extLst/>
          </a:blip>
          <a:stretch>
            <a:fillRect/>
          </a:stretch>
        </p:blipFill>
        <p:spPr>
          <a:xfrm>
            <a:off x="20908570" y="5171616"/>
            <a:ext cx="1620742" cy="1620742"/>
          </a:xfrm>
          <a:prstGeom prst="rect">
            <a:avLst/>
          </a:prstGeom>
          <a:ln w="12700">
            <a:miter lim="400000"/>
          </a:ln>
        </p:spPr>
      </p:pic>
      <p:pic>
        <p:nvPicPr>
          <p:cNvPr id="305" name="pasted-movie.png" descr="pasted-movie.png"/>
          <p:cNvPicPr>
            <a:picLocks noChangeAspect="1"/>
          </p:cNvPicPr>
          <p:nvPr/>
        </p:nvPicPr>
        <p:blipFill>
          <a:blip r:embed="rId5">
            <a:extLst/>
          </a:blip>
          <a:stretch>
            <a:fillRect/>
          </a:stretch>
        </p:blipFill>
        <p:spPr>
          <a:xfrm>
            <a:off x="19083917" y="5171616"/>
            <a:ext cx="1620742" cy="1620742"/>
          </a:xfrm>
          <a:prstGeom prst="rect">
            <a:avLst/>
          </a:prstGeom>
          <a:ln w="12700">
            <a:miter lim="400000"/>
          </a:ln>
        </p:spPr>
      </p:pic>
      <p:pic>
        <p:nvPicPr>
          <p:cNvPr id="306" name="pasted-movie.png" descr="pasted-movie.png"/>
          <p:cNvPicPr>
            <a:picLocks noChangeAspect="1"/>
          </p:cNvPicPr>
          <p:nvPr/>
        </p:nvPicPr>
        <p:blipFill>
          <a:blip r:embed="rId5">
            <a:extLst/>
          </a:blip>
          <a:stretch>
            <a:fillRect/>
          </a:stretch>
        </p:blipFill>
        <p:spPr>
          <a:xfrm>
            <a:off x="17259264" y="3779183"/>
            <a:ext cx="1620742" cy="1620742"/>
          </a:xfrm>
          <a:prstGeom prst="rect">
            <a:avLst/>
          </a:prstGeom>
          <a:ln w="12700">
            <a:miter lim="400000"/>
          </a:ln>
        </p:spPr>
      </p:pic>
      <p:pic>
        <p:nvPicPr>
          <p:cNvPr id="307" name="pasted-movie.png" descr="pasted-movie.png"/>
          <p:cNvPicPr>
            <a:picLocks noChangeAspect="1"/>
          </p:cNvPicPr>
          <p:nvPr/>
        </p:nvPicPr>
        <p:blipFill>
          <a:blip r:embed="rId5">
            <a:extLst/>
          </a:blip>
          <a:stretch>
            <a:fillRect/>
          </a:stretch>
        </p:blipFill>
        <p:spPr>
          <a:xfrm>
            <a:off x="20908570" y="3779183"/>
            <a:ext cx="1620742" cy="1620742"/>
          </a:xfrm>
          <a:prstGeom prst="rect">
            <a:avLst/>
          </a:prstGeom>
          <a:ln w="12700">
            <a:miter lim="400000"/>
          </a:ln>
        </p:spPr>
      </p:pic>
      <p:pic>
        <p:nvPicPr>
          <p:cNvPr id="308" name="pasted-movie.png" descr="pasted-movie.png"/>
          <p:cNvPicPr>
            <a:picLocks noChangeAspect="1"/>
          </p:cNvPicPr>
          <p:nvPr/>
        </p:nvPicPr>
        <p:blipFill>
          <a:blip r:embed="rId5">
            <a:extLst/>
          </a:blip>
          <a:stretch>
            <a:fillRect/>
          </a:stretch>
        </p:blipFill>
        <p:spPr>
          <a:xfrm>
            <a:off x="19083917" y="3779183"/>
            <a:ext cx="1620742" cy="1620742"/>
          </a:xfrm>
          <a:prstGeom prst="rect">
            <a:avLst/>
          </a:prstGeom>
          <a:ln w="12700">
            <a:miter lim="400000"/>
          </a:ln>
        </p:spPr>
      </p:pic>
      <p:sp>
        <p:nvSpPr>
          <p:cNvPr id="309" name="GitOps Workflow"/>
          <p:cNvSpPr txBox="1"/>
          <p:nvPr>
            <p:ph type="title"/>
          </p:nvPr>
        </p:nvSpPr>
        <p:spPr>
          <a:xfrm>
            <a:off x="1226209" y="622300"/>
            <a:ext cx="21971001" cy="1433163"/>
          </a:xfrm>
          <a:prstGeom prst="rect">
            <a:avLst/>
          </a:prstGeom>
        </p:spPr>
        <p:txBody>
          <a:bodyPr/>
          <a:lstStyle/>
          <a:p>
            <a:pPr/>
            <a:r>
              <a:t>GitOps Workflow</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Switch to Git repo…"/>
          <p:cNvSpPr txBox="1"/>
          <p:nvPr/>
        </p:nvSpPr>
        <p:spPr>
          <a:xfrm>
            <a:off x="6270193" y="5841425"/>
            <a:ext cx="11843614" cy="203315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r>
              <a:t>Switch to Git repo</a:t>
            </a:r>
          </a:p>
          <a:p>
            <a:pPr algn="ctr"/>
            <a:r>
              <a:t>https://github.com/darrylcauldwell/keswick</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Zero touch provision and operate"/>
          <p:cNvSpPr txBox="1"/>
          <p:nvPr>
            <p:ph type="title"/>
          </p:nvPr>
        </p:nvSpPr>
        <p:spPr>
          <a:prstGeom prst="rect">
            <a:avLst/>
          </a:prstGeom>
        </p:spPr>
        <p:txBody>
          <a:bodyPr/>
          <a:lstStyle/>
          <a:p>
            <a:pPr/>
            <a:r>
              <a:t>Zero touch provision and operate</a:t>
            </a:r>
          </a:p>
        </p:txBody>
      </p:sp>
      <p:sp>
        <p:nvSpPr>
          <p:cNvPr id="316" name="Ship OEM ships edge box(es) to site…"/>
          <p:cNvSpPr txBox="1"/>
          <p:nvPr>
            <p:ph type="body" idx="1"/>
          </p:nvPr>
        </p:nvSpPr>
        <p:spPr>
          <a:xfrm>
            <a:off x="1206500" y="3531351"/>
            <a:ext cx="21971000" cy="8973164"/>
          </a:xfrm>
          <a:prstGeom prst="rect">
            <a:avLst/>
          </a:prstGeom>
        </p:spPr>
        <p:txBody>
          <a:bodyPr/>
          <a:lstStyle/>
          <a:p>
            <a:pPr marL="0" indent="0" defTabSz="2292038">
              <a:spcBef>
                <a:spcPts val="4200"/>
              </a:spcBef>
              <a:buSzTx/>
              <a:buNone/>
              <a:defRPr sz="4512">
                <a:latin typeface="+mn-lt"/>
                <a:ea typeface="+mn-ea"/>
                <a:cs typeface="+mn-cs"/>
                <a:sym typeface="Helvetica"/>
              </a:defRPr>
            </a:pPr>
            <a:r>
              <a:rPr b="1"/>
              <a:t>Ship</a:t>
            </a:r>
            <a:r>
              <a:t> OEM ships edge box(es) to site</a:t>
            </a:r>
          </a:p>
          <a:p>
            <a:pPr marL="0" indent="0" defTabSz="2292038">
              <a:spcBef>
                <a:spcPts val="4200"/>
              </a:spcBef>
              <a:buSzTx/>
              <a:buNone/>
              <a:defRPr sz="4512">
                <a:latin typeface="+mn-lt"/>
                <a:ea typeface="+mn-ea"/>
                <a:cs typeface="+mn-cs"/>
                <a:sym typeface="Helvetica"/>
              </a:defRPr>
            </a:pPr>
          </a:p>
          <a:p>
            <a:pPr marL="0" indent="0" defTabSz="2292038">
              <a:spcBef>
                <a:spcPts val="4200"/>
              </a:spcBef>
              <a:buSzTx/>
              <a:buNone/>
              <a:defRPr sz="4512">
                <a:latin typeface="+mn-lt"/>
                <a:ea typeface="+mn-ea"/>
                <a:cs typeface="+mn-cs"/>
                <a:sym typeface="Helvetica"/>
              </a:defRPr>
            </a:pPr>
            <a:r>
              <a:rPr b="1"/>
              <a:t>Plug in </a:t>
            </a:r>
            <a:r>
              <a:t>Person at site edge box connects edge box(es)</a:t>
            </a:r>
          </a:p>
          <a:p>
            <a:pPr marL="0" indent="0" defTabSz="2292038">
              <a:spcBef>
                <a:spcPts val="4200"/>
              </a:spcBef>
              <a:buSzTx/>
              <a:buNone/>
              <a:defRPr b="1" sz="4512">
                <a:latin typeface="+mn-lt"/>
                <a:ea typeface="+mn-ea"/>
                <a:cs typeface="+mn-cs"/>
                <a:sym typeface="Helvetica"/>
              </a:defRPr>
            </a:pPr>
          </a:p>
          <a:p>
            <a:pPr marL="0" indent="0" defTabSz="2292038">
              <a:spcBef>
                <a:spcPts val="4200"/>
              </a:spcBef>
              <a:buSzTx/>
              <a:buNone/>
              <a:defRPr b="1" sz="4512">
                <a:latin typeface="+mn-lt"/>
                <a:ea typeface="+mn-ea"/>
                <a:cs typeface="+mn-cs"/>
                <a:sym typeface="Helvetica"/>
              </a:defRPr>
            </a:pPr>
            <a:r>
              <a:t>Setup </a:t>
            </a:r>
            <a:r>
              <a:rPr b="0"/>
              <a:t>Edge agent contacts cloud service, authenticates, pulls configuration, updates itself</a:t>
            </a:r>
            <a:endParaRPr b="0"/>
          </a:p>
          <a:p>
            <a:pPr marL="0" indent="0" defTabSz="2292038">
              <a:spcBef>
                <a:spcPts val="4200"/>
              </a:spcBef>
              <a:buSzTx/>
              <a:buNone/>
              <a:defRPr b="1" sz="4512">
                <a:latin typeface="+mn-lt"/>
                <a:ea typeface="+mn-ea"/>
                <a:cs typeface="+mn-cs"/>
                <a:sym typeface="Helvetica"/>
              </a:defRPr>
            </a:pPr>
            <a:endParaRPr b="0"/>
          </a:p>
          <a:p>
            <a:pPr marL="0" indent="0" defTabSz="2292038">
              <a:spcBef>
                <a:spcPts val="4200"/>
              </a:spcBef>
              <a:buSzTx/>
              <a:buNone/>
              <a:defRPr b="1" sz="4512">
                <a:latin typeface="+mn-lt"/>
                <a:ea typeface="+mn-ea"/>
                <a:cs typeface="+mn-cs"/>
                <a:sym typeface="Helvetica"/>
              </a:defRPr>
            </a:pPr>
            <a:r>
              <a:t>Day 2 </a:t>
            </a:r>
            <a:r>
              <a:rPr b="0"/>
              <a:t>operations the edge agent notices mismatch with desired state and acts to resolve </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ESXi Operator in Kubernetes"/>
          <p:cNvSpPr txBox="1"/>
          <p:nvPr>
            <p:ph type="title"/>
          </p:nvPr>
        </p:nvSpPr>
        <p:spPr>
          <a:xfrm>
            <a:off x="1226209" y="622300"/>
            <a:ext cx="21971001" cy="1433163"/>
          </a:xfrm>
          <a:prstGeom prst="rect">
            <a:avLst/>
          </a:prstGeom>
        </p:spPr>
        <p:txBody>
          <a:bodyPr/>
          <a:lstStyle>
            <a:lvl1pPr defTabSz="1828754">
              <a:defRPr spc="-174" sz="8700"/>
            </a:lvl1pPr>
          </a:lstStyle>
          <a:p>
            <a:pPr/>
            <a:r>
              <a:t>ESXi Operator in Kubernetes</a:t>
            </a:r>
          </a:p>
        </p:txBody>
      </p:sp>
      <p:sp>
        <p:nvSpPr>
          <p:cNvPr id="321" name="ESXi Operator in Kubernetes…"/>
          <p:cNvSpPr txBox="1"/>
          <p:nvPr/>
        </p:nvSpPr>
        <p:spPr>
          <a:xfrm>
            <a:off x="1314551" y="3732530"/>
            <a:ext cx="7975700" cy="193294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a:latin typeface="+mn-lt"/>
                <a:ea typeface="+mn-ea"/>
                <a:cs typeface="+mn-cs"/>
                <a:sym typeface="Helvetica"/>
              </a:defRPr>
            </a:pPr>
            <a:r>
              <a:t>ESXi Operator in Kubernetes</a:t>
            </a:r>
          </a:p>
          <a:p>
            <a:pPr>
              <a:defRPr sz="3900">
                <a:latin typeface="+mn-lt"/>
                <a:ea typeface="+mn-ea"/>
                <a:cs typeface="+mn-cs"/>
                <a:sym typeface="Helvetica"/>
              </a:defRPr>
            </a:pPr>
            <a:r>
              <a:t>HostConfiguration</a:t>
            </a:r>
          </a:p>
        </p:txBody>
      </p:sp>
      <p:sp>
        <p:nvSpPr>
          <p:cNvPr id="322" name="kubectl get crd | grep esx…"/>
          <p:cNvSpPr txBox="1"/>
          <p:nvPr/>
        </p:nvSpPr>
        <p:spPr>
          <a:xfrm>
            <a:off x="1487005" y="7443059"/>
            <a:ext cx="21449408" cy="2527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spcBef>
                <a:spcPts val="0"/>
              </a:spcBef>
              <a:defRPr sz="2500">
                <a:latin typeface="Courier New"/>
                <a:ea typeface="Courier New"/>
                <a:cs typeface="Courier New"/>
                <a:sym typeface="Courier New"/>
              </a:defRPr>
            </a:pPr>
            <a:r>
              <a:t>kubectl get crd | grep esx</a:t>
            </a:r>
          </a:p>
          <a:p>
            <a:pPr>
              <a:spcBef>
                <a:spcPts val="0"/>
              </a:spcBef>
              <a:defRPr sz="2500">
                <a:latin typeface="Courier New"/>
                <a:ea typeface="Courier New"/>
                <a:cs typeface="Courier New"/>
                <a:sym typeface="Courier New"/>
              </a:defRPr>
            </a:pPr>
            <a:r>
              <a:t>hostconfigurations.esx.vmware.com                  </a:t>
            </a:r>
          </a:p>
          <a:p>
            <a:pPr>
              <a:spcBef>
                <a:spcPts val="0"/>
              </a:spcBef>
              <a:defRPr sz="2500">
                <a:latin typeface="Courier New"/>
                <a:ea typeface="Courier New"/>
                <a:cs typeface="Courier New"/>
                <a:sym typeface="Courier New"/>
              </a:defRPr>
            </a:pPr>
          </a:p>
          <a:p>
            <a:pPr>
              <a:spcBef>
                <a:spcPts val="0"/>
              </a:spcBef>
              <a:defRPr sz="2500">
                <a:latin typeface="Courier New"/>
                <a:ea typeface="Courier New"/>
                <a:cs typeface="Courier New"/>
                <a:sym typeface="Courier New"/>
              </a:defRPr>
            </a:pPr>
            <a:r>
              <a:t>kubectl -n esx-system get HostConfiguration </a:t>
            </a:r>
          </a:p>
          <a:p>
            <a:pPr>
              <a:spcBef>
                <a:spcPts val="0"/>
              </a:spcBef>
              <a:defRPr sz="2500">
                <a:latin typeface="Courier New"/>
                <a:ea typeface="Courier New"/>
                <a:cs typeface="Courier New"/>
                <a:sym typeface="Courier New"/>
              </a:defRPr>
            </a:pPr>
            <a:r>
              <a:t>NAME             </a:t>
            </a:r>
          </a:p>
          <a:p>
            <a:pPr>
              <a:spcBef>
                <a:spcPts val="0"/>
              </a:spcBef>
              <a:defRPr sz="2500">
                <a:latin typeface="Courier New"/>
                <a:ea typeface="Courier New"/>
                <a:cs typeface="Courier New"/>
                <a:sym typeface="Courier New"/>
              </a:defRPr>
            </a:pPr>
            <a:r>
              <a:t>esx-base-profile  </a:t>
            </a:r>
          </a:p>
          <a:p>
            <a:pPr>
              <a:spcBef>
                <a:spcPts val="0"/>
              </a:spcBef>
              <a:defRPr sz="2500">
                <a:latin typeface="Courier New"/>
                <a:ea typeface="Courier New"/>
                <a:cs typeface="Courier New"/>
                <a:sym typeface="Courier New"/>
              </a:defRPr>
            </a:pPr>
            <a:r>
              <a:t>keswick-host-config          </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VM Operators in Kubernetes"/>
          <p:cNvSpPr txBox="1"/>
          <p:nvPr>
            <p:ph type="title"/>
          </p:nvPr>
        </p:nvSpPr>
        <p:spPr>
          <a:xfrm>
            <a:off x="1226209" y="622300"/>
            <a:ext cx="21971001" cy="1433163"/>
          </a:xfrm>
          <a:prstGeom prst="rect">
            <a:avLst/>
          </a:prstGeom>
        </p:spPr>
        <p:txBody>
          <a:bodyPr/>
          <a:lstStyle>
            <a:lvl1pPr defTabSz="1828754">
              <a:defRPr spc="-174" sz="8700"/>
            </a:lvl1pPr>
          </a:lstStyle>
          <a:p>
            <a:pPr/>
            <a:r>
              <a:t>VM Operators in Kubernetes</a:t>
            </a:r>
          </a:p>
        </p:txBody>
      </p:sp>
      <p:sp>
        <p:nvSpPr>
          <p:cNvPr id="327" name="VM Operators in Kubernetes, introduced vSphere 7.0 U2a…"/>
          <p:cNvSpPr txBox="1"/>
          <p:nvPr/>
        </p:nvSpPr>
        <p:spPr>
          <a:xfrm>
            <a:off x="1314551" y="3732530"/>
            <a:ext cx="19873095" cy="193294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a:latin typeface="+mn-lt"/>
                <a:ea typeface="+mn-ea"/>
                <a:cs typeface="+mn-cs"/>
                <a:sym typeface="Helvetica"/>
              </a:defRPr>
            </a:pPr>
            <a:r>
              <a:t>VM Operators in Kubernetes, introduced vSphere 7.0 U2a</a:t>
            </a:r>
          </a:p>
          <a:p>
            <a:pPr>
              <a:defRPr sz="3900">
                <a:latin typeface="+mn-lt"/>
                <a:ea typeface="+mn-ea"/>
                <a:cs typeface="+mn-cs"/>
                <a:sym typeface="Helvetica"/>
              </a:defRPr>
            </a:pPr>
            <a:r>
              <a:t>VirtualMachine, VirtualMachineImage, VirtualMachineClasses and VirtualMachineServices</a:t>
            </a:r>
          </a:p>
        </p:txBody>
      </p:sp>
      <p:sp>
        <p:nvSpPr>
          <p:cNvPr id="328" name="kubectl get crd | grep vmoperator…"/>
          <p:cNvSpPr txBox="1"/>
          <p:nvPr/>
        </p:nvSpPr>
        <p:spPr>
          <a:xfrm>
            <a:off x="1487005" y="6242909"/>
            <a:ext cx="21449408" cy="4927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spcBef>
                <a:spcPts val="0"/>
              </a:spcBef>
              <a:defRPr sz="2500">
                <a:latin typeface="Courier New"/>
                <a:ea typeface="Courier New"/>
                <a:cs typeface="Courier New"/>
                <a:sym typeface="Courier New"/>
              </a:defRPr>
            </a:pPr>
            <a:r>
              <a:t>kubectl get crd | grep vmoperator</a:t>
            </a:r>
          </a:p>
          <a:p>
            <a:pPr>
              <a:spcBef>
                <a:spcPts val="0"/>
              </a:spcBef>
              <a:defRPr sz="2500">
                <a:latin typeface="Courier New"/>
                <a:ea typeface="Courier New"/>
                <a:cs typeface="Courier New"/>
                <a:sym typeface="Courier New"/>
              </a:defRPr>
            </a:pPr>
            <a:r>
              <a:t>contentsourcebindings.vmoperator.vmware.com      </a:t>
            </a:r>
          </a:p>
          <a:p>
            <a:pPr>
              <a:spcBef>
                <a:spcPts val="0"/>
              </a:spcBef>
              <a:defRPr sz="2500">
                <a:latin typeface="Courier New"/>
                <a:ea typeface="Courier New"/>
                <a:cs typeface="Courier New"/>
                <a:sym typeface="Courier New"/>
              </a:defRPr>
            </a:pPr>
            <a:r>
              <a:t>contentsources.vmoperator.vmware.com                              </a:t>
            </a:r>
          </a:p>
          <a:p>
            <a:pPr>
              <a:spcBef>
                <a:spcPts val="0"/>
              </a:spcBef>
              <a:defRPr sz="2500">
                <a:latin typeface="Courier New"/>
                <a:ea typeface="Courier New"/>
                <a:cs typeface="Courier New"/>
                <a:sym typeface="Courier New"/>
              </a:defRPr>
            </a:pPr>
            <a:r>
              <a:t>virtualmachineclassbindings.vmoperator.vmware.com  </a:t>
            </a:r>
          </a:p>
          <a:p>
            <a:pPr>
              <a:spcBef>
                <a:spcPts val="0"/>
              </a:spcBef>
              <a:defRPr sz="2500">
                <a:latin typeface="Courier New"/>
                <a:ea typeface="Courier New"/>
                <a:cs typeface="Courier New"/>
                <a:sym typeface="Courier New"/>
              </a:defRPr>
            </a:pPr>
            <a:r>
              <a:t>virtualmachineclasses.vmoperator.vmware.com        </a:t>
            </a:r>
          </a:p>
          <a:p>
            <a:pPr>
              <a:spcBef>
                <a:spcPts val="0"/>
              </a:spcBef>
              <a:defRPr sz="2500">
                <a:latin typeface="Courier New"/>
                <a:ea typeface="Courier New"/>
                <a:cs typeface="Courier New"/>
                <a:sym typeface="Courier New"/>
              </a:defRPr>
            </a:pPr>
            <a:r>
              <a:t>virtualmachineimages.vmoperator.vmware.com          </a:t>
            </a:r>
          </a:p>
          <a:p>
            <a:pPr>
              <a:spcBef>
                <a:spcPts val="0"/>
              </a:spcBef>
              <a:defRPr sz="2500">
                <a:latin typeface="Courier New"/>
                <a:ea typeface="Courier New"/>
                <a:cs typeface="Courier New"/>
                <a:sym typeface="Courier New"/>
              </a:defRPr>
            </a:pPr>
            <a:r>
              <a:t>virtualmachinepublishrequests.vmoperator.vmware.com     </a:t>
            </a:r>
          </a:p>
          <a:p>
            <a:pPr>
              <a:spcBef>
                <a:spcPts val="0"/>
              </a:spcBef>
              <a:defRPr sz="2500">
                <a:latin typeface="Courier New"/>
                <a:ea typeface="Courier New"/>
                <a:cs typeface="Courier New"/>
                <a:sym typeface="Courier New"/>
              </a:defRPr>
            </a:pPr>
            <a:r>
              <a:t>virtualmachines.vmoperator.vmware.com                   </a:t>
            </a:r>
          </a:p>
          <a:p>
            <a:pPr>
              <a:spcBef>
                <a:spcPts val="0"/>
              </a:spcBef>
              <a:defRPr sz="2500">
                <a:latin typeface="Courier New"/>
                <a:ea typeface="Courier New"/>
                <a:cs typeface="Courier New"/>
                <a:sym typeface="Courier New"/>
              </a:defRPr>
            </a:pPr>
            <a:r>
              <a:t>virtualmachineservices.vmoperator.vmware.com             </a:t>
            </a:r>
          </a:p>
          <a:p>
            <a:pPr>
              <a:spcBef>
                <a:spcPts val="0"/>
              </a:spcBef>
              <a:defRPr sz="2500">
                <a:latin typeface="Courier New"/>
                <a:ea typeface="Courier New"/>
                <a:cs typeface="Courier New"/>
                <a:sym typeface="Courier New"/>
              </a:defRPr>
            </a:pPr>
            <a:r>
              <a:t>virtualmachinesetresourcepolicies.vmoperator.vmware.com</a:t>
            </a:r>
          </a:p>
          <a:p>
            <a:pPr>
              <a:spcBef>
                <a:spcPts val="0"/>
              </a:spcBef>
              <a:defRPr sz="2500">
                <a:latin typeface="Courier New"/>
                <a:ea typeface="Courier New"/>
                <a:cs typeface="Courier New"/>
                <a:sym typeface="Courier New"/>
              </a:defRPr>
            </a:pPr>
          </a:p>
          <a:p>
            <a:pPr>
              <a:spcBef>
                <a:spcPts val="0"/>
              </a:spcBef>
              <a:defRPr sz="2500">
                <a:latin typeface="Courier New"/>
                <a:ea typeface="Courier New"/>
                <a:cs typeface="Courier New"/>
                <a:sym typeface="Courier New"/>
              </a:defRPr>
            </a:pPr>
            <a:r>
              <a:t>kubectl get vm -o wide</a:t>
            </a:r>
          </a:p>
          <a:p>
            <a:pPr>
              <a:spcBef>
                <a:spcPts val="0"/>
              </a:spcBef>
              <a:defRPr sz="2500">
                <a:latin typeface="Courier New"/>
                <a:ea typeface="Courier New"/>
                <a:cs typeface="Courier New"/>
                <a:sym typeface="Courier New"/>
              </a:defRPr>
            </a:pPr>
            <a:r>
              <a:t>NAME      POWER-STATE   CLASS              IMAGE                                                                </a:t>
            </a:r>
          </a:p>
          <a:p>
            <a:pPr>
              <a:spcBef>
                <a:spcPts val="0"/>
              </a:spcBef>
              <a:defRPr sz="2500">
                <a:latin typeface="Courier New"/>
                <a:ea typeface="Courier New"/>
                <a:cs typeface="Courier New"/>
                <a:sym typeface="Courier New"/>
              </a:defRPr>
            </a:pPr>
            <a:r>
              <a:t>edge-vm                 guaranteed-small   packages.vmware.com/photon/4.0/GA/ova/photon-hw11-4.0-1526e30ba0.ova           </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Switch to Terminal SSH, host and VM Operators"/>
          <p:cNvSpPr txBox="1"/>
          <p:nvPr/>
        </p:nvSpPr>
        <p:spPr>
          <a:xfrm>
            <a:off x="5586222" y="6453784"/>
            <a:ext cx="13211557"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Switch to Terminal SSH, host and VM Operators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Demo"/>
          <p:cNvSpPr txBox="1"/>
          <p:nvPr>
            <p:ph type="title"/>
          </p:nvPr>
        </p:nvSpPr>
        <p:spPr>
          <a:prstGeom prst="rect">
            <a:avLst/>
          </a:prstGeom>
        </p:spPr>
        <p:txBody>
          <a:bodyPr/>
          <a:lstStyle/>
          <a:p>
            <a:pPr/>
            <a:r>
              <a:t>Demo</a:t>
            </a:r>
          </a:p>
        </p:txBody>
      </p:sp>
      <p:pic>
        <p:nvPicPr>
          <p:cNvPr id="335" name="pasted-movie.png" descr="pasted-movie.png"/>
          <p:cNvPicPr>
            <a:picLocks noChangeAspect="1"/>
          </p:cNvPicPr>
          <p:nvPr/>
        </p:nvPicPr>
        <p:blipFill>
          <a:blip r:embed="rId2">
            <a:extLst/>
          </a:blip>
          <a:stretch>
            <a:fillRect/>
          </a:stretch>
        </p:blipFill>
        <p:spPr>
          <a:xfrm>
            <a:off x="3682593" y="7203068"/>
            <a:ext cx="1795612" cy="1795613"/>
          </a:xfrm>
          <a:prstGeom prst="rect">
            <a:avLst/>
          </a:prstGeom>
          <a:ln w="12700">
            <a:miter lim="400000"/>
          </a:ln>
        </p:spPr>
      </p:pic>
      <p:sp>
        <p:nvSpPr>
          <p:cNvPr id="336" name="RTSP…"/>
          <p:cNvSpPr txBox="1"/>
          <p:nvPr/>
        </p:nvSpPr>
        <p:spPr>
          <a:xfrm>
            <a:off x="1726894" y="7622084"/>
            <a:ext cx="1701556" cy="95758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900">
                <a:solidFill>
                  <a:schemeClr val="accent1">
                    <a:hueOff val="114395"/>
                    <a:lumOff val="-24975"/>
                  </a:schemeClr>
                </a:solidFill>
                <a:latin typeface="+mn-lt"/>
                <a:ea typeface="+mn-ea"/>
                <a:cs typeface="+mn-cs"/>
                <a:sym typeface="Helvetica"/>
              </a:defRPr>
            </a:pPr>
            <a:r>
              <a:t>RTSP</a:t>
            </a:r>
          </a:p>
          <a:p>
            <a:pPr>
              <a:spcBef>
                <a:spcPts val="0"/>
              </a:spcBef>
              <a:defRPr sz="2900">
                <a:solidFill>
                  <a:schemeClr val="accent1">
                    <a:hueOff val="114395"/>
                    <a:lumOff val="-24975"/>
                  </a:schemeClr>
                </a:solidFill>
                <a:latin typeface="+mn-lt"/>
                <a:ea typeface="+mn-ea"/>
                <a:cs typeface="+mn-cs"/>
                <a:sym typeface="Helvetica"/>
              </a:defRPr>
            </a:pPr>
            <a:r>
              <a:t>Camera</a:t>
            </a:r>
          </a:p>
        </p:txBody>
      </p:sp>
      <p:sp>
        <p:nvSpPr>
          <p:cNvPr id="337" name="Inference engine"/>
          <p:cNvSpPr/>
          <p:nvPr/>
        </p:nvSpPr>
        <p:spPr>
          <a:xfrm>
            <a:off x="7152761" y="7477568"/>
            <a:ext cx="3488037" cy="1270001"/>
          </a:xfrm>
          <a:prstGeom prst="rect">
            <a:avLst/>
          </a:prstGeom>
          <a:ln w="63500">
            <a:solidFill>
              <a:schemeClr val="accent1">
                <a:hueOff val="114395"/>
                <a:lumOff val="-24975"/>
              </a:schemeClr>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Inference engine</a:t>
            </a:r>
          </a:p>
        </p:txBody>
      </p:sp>
      <p:sp>
        <p:nvSpPr>
          <p:cNvPr id="338" name="Line"/>
          <p:cNvSpPr/>
          <p:nvPr/>
        </p:nvSpPr>
        <p:spPr>
          <a:xfrm>
            <a:off x="5533430" y="8112568"/>
            <a:ext cx="1532357" cy="1"/>
          </a:xfrm>
          <a:prstGeom prst="line">
            <a:avLst/>
          </a:prstGeom>
          <a:ln w="25400">
            <a:solidFill>
              <a:schemeClr val="accent1">
                <a:hueOff val="114395"/>
                <a:lumOff val="-24975"/>
              </a:schemeClr>
            </a:solidFill>
            <a:miter lim="400000"/>
            <a:tailEnd type="triangle"/>
          </a:ln>
        </p:spPr>
        <p:txBody>
          <a:bodyPr lIns="50800" tIns="50800" rIns="50800" bIns="50800" anchor="ctr"/>
          <a:lstStyle/>
          <a:p>
            <a:pPr/>
          </a:p>
        </p:txBody>
      </p:sp>
      <p:pic>
        <p:nvPicPr>
          <p:cNvPr id="339" name="pasted-movie.png" descr="pasted-movie.png"/>
          <p:cNvPicPr>
            <a:picLocks noChangeAspect="1"/>
          </p:cNvPicPr>
          <p:nvPr/>
        </p:nvPicPr>
        <p:blipFill>
          <a:blip r:embed="rId3">
            <a:extLst/>
          </a:blip>
          <a:stretch>
            <a:fillRect/>
          </a:stretch>
        </p:blipFill>
        <p:spPr>
          <a:xfrm>
            <a:off x="15630938" y="1847297"/>
            <a:ext cx="5375216" cy="1847731"/>
          </a:xfrm>
          <a:prstGeom prst="rect">
            <a:avLst/>
          </a:prstGeom>
          <a:ln w="12700">
            <a:miter lim="400000"/>
          </a:ln>
        </p:spPr>
      </p:pic>
      <p:sp>
        <p:nvSpPr>
          <p:cNvPr id="340" name="OpenCV (Open Source Computer Vision Library) is an open source computer vision and machine learning software library.…"/>
          <p:cNvSpPr txBox="1"/>
          <p:nvPr/>
        </p:nvSpPr>
        <p:spPr>
          <a:xfrm>
            <a:off x="15693473" y="3719277"/>
            <a:ext cx="6994047" cy="44221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000">
                <a:latin typeface="+mn-lt"/>
                <a:ea typeface="+mn-ea"/>
                <a:cs typeface="+mn-cs"/>
                <a:sym typeface="Helvetica"/>
              </a:defRPr>
            </a:pPr>
            <a:r>
              <a:t>OpenCV (Open Source Computer Vision Library) is an open source computer vision and machine learning software library.</a:t>
            </a:r>
          </a:p>
          <a:p>
            <a:pPr>
              <a:defRPr sz="3000">
                <a:latin typeface="+mn-lt"/>
                <a:ea typeface="+mn-ea"/>
                <a:cs typeface="+mn-cs"/>
                <a:sym typeface="Helvetica"/>
              </a:defRPr>
            </a:pPr>
            <a:r>
              <a:t>OpenCV was built to provide a common infrastructure for computer vision applications and to accelerate the use of machine perception in the commercial products.</a:t>
            </a:r>
          </a:p>
        </p:txBody>
      </p:sp>
      <p:pic>
        <p:nvPicPr>
          <p:cNvPr id="341" name="pasted-movie.png" descr="pasted-movie.png"/>
          <p:cNvPicPr>
            <a:picLocks noChangeAspect="1"/>
          </p:cNvPicPr>
          <p:nvPr/>
        </p:nvPicPr>
        <p:blipFill>
          <a:blip r:embed="rId4">
            <a:extLst/>
          </a:blip>
          <a:stretch>
            <a:fillRect/>
          </a:stretch>
        </p:blipFill>
        <p:spPr>
          <a:xfrm>
            <a:off x="15376938" y="8165668"/>
            <a:ext cx="3496853" cy="1965231"/>
          </a:xfrm>
          <a:prstGeom prst="rect">
            <a:avLst/>
          </a:prstGeom>
          <a:ln w="12700">
            <a:miter lim="400000"/>
          </a:ln>
        </p:spPr>
      </p:pic>
      <p:sp>
        <p:nvSpPr>
          <p:cNvPr id="342" name="Caffe is a deep learning framework. Caffe Face Detector is an OpenCV Pre-trained Model."/>
          <p:cNvSpPr txBox="1"/>
          <p:nvPr/>
        </p:nvSpPr>
        <p:spPr>
          <a:xfrm>
            <a:off x="15648106" y="9845600"/>
            <a:ext cx="6574916" cy="13817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000">
                <a:latin typeface="+mn-lt"/>
                <a:ea typeface="+mn-ea"/>
                <a:cs typeface="+mn-cs"/>
                <a:sym typeface="Helvetica"/>
              </a:defRPr>
            </a:lvl1pPr>
          </a:lstStyle>
          <a:p>
            <a:pPr/>
            <a:r>
              <a:t>Caffe is a deep learning framework. Caffe Face Detector is an OpenCV Pre-trained Model.</a:t>
            </a:r>
          </a:p>
        </p:txBody>
      </p:sp>
      <p:sp>
        <p:nvSpPr>
          <p:cNvPr id="343" name="Browser"/>
          <p:cNvSpPr/>
          <p:nvPr/>
        </p:nvSpPr>
        <p:spPr>
          <a:xfrm>
            <a:off x="7152761" y="5472141"/>
            <a:ext cx="3488037" cy="1270001"/>
          </a:xfrm>
          <a:prstGeom prst="rect">
            <a:avLst/>
          </a:prstGeom>
          <a:ln w="63500">
            <a:solidFill>
              <a:schemeClr val="accent1">
                <a:hueOff val="114395"/>
                <a:lumOff val="-24975"/>
              </a:schemeClr>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Browser</a:t>
            </a:r>
          </a:p>
        </p:txBody>
      </p:sp>
      <p:sp>
        <p:nvSpPr>
          <p:cNvPr id="344" name="Line"/>
          <p:cNvSpPr/>
          <p:nvPr/>
        </p:nvSpPr>
        <p:spPr>
          <a:xfrm>
            <a:off x="8896780" y="6816105"/>
            <a:ext cx="1" cy="587500"/>
          </a:xfrm>
          <a:prstGeom prst="line">
            <a:avLst/>
          </a:prstGeom>
          <a:ln w="25400">
            <a:solidFill>
              <a:schemeClr val="accent1">
                <a:hueOff val="114395"/>
                <a:lumOff val="-24975"/>
              </a:schemeClr>
            </a:solidFill>
            <a:miter lim="400000"/>
            <a:tailEnd type="triangle"/>
          </a:ln>
        </p:spPr>
        <p:txBody>
          <a:bodyPr lIns="50800" tIns="50800" rIns="50800" bIns="50800" anchor="ctr"/>
          <a:lstStyle/>
          <a:p>
            <a:pPr/>
          </a:p>
        </p:txBody>
      </p:sp>
      <p:sp>
        <p:nvSpPr>
          <p:cNvPr id="345" name="NUC"/>
          <p:cNvSpPr/>
          <p:nvPr/>
        </p:nvSpPr>
        <p:spPr>
          <a:xfrm>
            <a:off x="7152761" y="10010877"/>
            <a:ext cx="3488037" cy="1270001"/>
          </a:xfrm>
          <a:prstGeom prst="rect">
            <a:avLst/>
          </a:prstGeom>
          <a:ln w="63500">
            <a:solidFill>
              <a:schemeClr val="accent1">
                <a:hueOff val="114395"/>
                <a:lumOff val="-24975"/>
              </a:schemeClr>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NUC</a:t>
            </a:r>
          </a:p>
        </p:txBody>
      </p:sp>
      <p:sp>
        <p:nvSpPr>
          <p:cNvPr id="346" name="VECO"/>
          <p:cNvSpPr/>
          <p:nvPr/>
        </p:nvSpPr>
        <p:spPr>
          <a:xfrm>
            <a:off x="7152761" y="8751682"/>
            <a:ext cx="3488037" cy="1270001"/>
          </a:xfrm>
          <a:prstGeom prst="rect">
            <a:avLst/>
          </a:prstGeom>
          <a:ln w="63500">
            <a:solidFill>
              <a:schemeClr val="accent1">
                <a:hueOff val="114395"/>
                <a:lumOff val="-24975"/>
              </a:schemeClr>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VECO</a:t>
            </a:r>
          </a:p>
        </p:txBody>
      </p:sp>
      <p:sp>
        <p:nvSpPr>
          <p:cNvPr id="347" name="Git"/>
          <p:cNvSpPr/>
          <p:nvPr/>
        </p:nvSpPr>
        <p:spPr>
          <a:xfrm>
            <a:off x="11534725" y="8739988"/>
            <a:ext cx="3488036" cy="1270001"/>
          </a:xfrm>
          <a:prstGeom prst="rect">
            <a:avLst/>
          </a:prstGeom>
          <a:ln w="63500">
            <a:solidFill>
              <a:schemeClr val="accent1">
                <a:hueOff val="114395"/>
                <a:lumOff val="-24975"/>
              </a:schemeClr>
            </a:solidFill>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chemeClr val="accent1">
                    <a:hueOff val="114395"/>
                    <a:lumOff val="-24975"/>
                  </a:schemeClr>
                </a:solidFill>
                <a:latin typeface="+mn-lt"/>
                <a:ea typeface="+mn-ea"/>
                <a:cs typeface="+mn-cs"/>
                <a:sym typeface="Helvetica"/>
              </a:defRPr>
            </a:lvl1pPr>
          </a:lstStyle>
          <a:p>
            <a:pPr/>
            <a:r>
              <a:t>Git</a:t>
            </a:r>
          </a:p>
        </p:txBody>
      </p:sp>
      <p:sp>
        <p:nvSpPr>
          <p:cNvPr id="348" name="Line"/>
          <p:cNvSpPr/>
          <p:nvPr/>
        </p:nvSpPr>
        <p:spPr>
          <a:xfrm>
            <a:off x="10662887" y="9370090"/>
            <a:ext cx="833576" cy="1"/>
          </a:xfrm>
          <a:prstGeom prst="line">
            <a:avLst/>
          </a:prstGeom>
          <a:ln w="25400">
            <a:solidFill>
              <a:schemeClr val="accent1">
                <a:hueOff val="114395"/>
                <a:lumOff val="-24975"/>
              </a:schemeClr>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50" name="Thank you"/>
          <p:cNvSpPr txBox="1"/>
          <p:nvPr/>
        </p:nvSpPr>
        <p:spPr>
          <a:xfrm>
            <a:off x="10034473" y="6453784"/>
            <a:ext cx="2948941"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Thank you</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What is                   ?"/>
          <p:cNvSpPr txBox="1"/>
          <p:nvPr>
            <p:ph type="title"/>
          </p:nvPr>
        </p:nvSpPr>
        <p:spPr>
          <a:prstGeom prst="rect">
            <a:avLst/>
          </a:prstGeom>
        </p:spPr>
        <p:txBody>
          <a:bodyPr/>
          <a:lstStyle/>
          <a:p>
            <a:pPr/>
            <a:r>
              <a:t>What is                   ?</a:t>
            </a:r>
          </a:p>
        </p:txBody>
      </p:sp>
      <p:pic>
        <p:nvPicPr>
          <p:cNvPr id="353" name="pasted-movie.png" descr="pasted-movie.png"/>
          <p:cNvPicPr>
            <a:picLocks noChangeAspect="1"/>
          </p:cNvPicPr>
          <p:nvPr/>
        </p:nvPicPr>
        <p:blipFill>
          <a:blip r:embed="rId2">
            <a:extLst/>
          </a:blip>
          <a:stretch>
            <a:fillRect/>
          </a:stretch>
        </p:blipFill>
        <p:spPr>
          <a:xfrm>
            <a:off x="16127145" y="6375400"/>
            <a:ext cx="6050245" cy="1387671"/>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5" name="pasted-movie.png" descr="pasted-movie.png"/>
          <p:cNvPicPr>
            <a:picLocks noChangeAspect="1"/>
          </p:cNvPicPr>
          <p:nvPr/>
        </p:nvPicPr>
        <p:blipFill>
          <a:blip r:embed="rId2">
            <a:extLst/>
          </a:blip>
          <a:stretch>
            <a:fillRect/>
          </a:stretch>
        </p:blipFill>
        <p:spPr>
          <a:xfrm>
            <a:off x="1574800" y="1143000"/>
            <a:ext cx="5537200" cy="1270000"/>
          </a:xfrm>
          <a:prstGeom prst="rect">
            <a:avLst/>
          </a:prstGeom>
          <a:ln w="12700">
            <a:miter lim="400000"/>
          </a:ln>
        </p:spPr>
      </p:pic>
      <p:sp>
        <p:nvSpPr>
          <p:cNvPr id="356" name="Open OpenSource…"/>
          <p:cNvSpPr txBox="1"/>
          <p:nvPr/>
        </p:nvSpPr>
        <p:spPr>
          <a:xfrm>
            <a:off x="1771751" y="3975324"/>
            <a:ext cx="11662565" cy="57653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rPr b="1"/>
              <a:t>Open</a:t>
            </a:r>
            <a:r>
              <a:t> OpenSource</a:t>
            </a:r>
          </a:p>
          <a:p>
            <a:pPr/>
            <a:r>
              <a:rPr b="1"/>
              <a:t>V</a:t>
            </a:r>
            <a:r>
              <a:t> Visual</a:t>
            </a:r>
          </a:p>
          <a:p>
            <a:pPr/>
            <a:r>
              <a:rPr b="1"/>
              <a:t>I</a:t>
            </a:r>
            <a:r>
              <a:t> Inference</a:t>
            </a:r>
          </a:p>
          <a:p>
            <a:pPr/>
            <a:r>
              <a:rPr b="1"/>
              <a:t>N</a:t>
            </a:r>
            <a:r>
              <a:t> Neural networks</a:t>
            </a:r>
          </a:p>
          <a:p>
            <a:pPr/>
            <a:r>
              <a:rPr b="1"/>
              <a:t>O</a:t>
            </a:r>
            <a:r>
              <a:t> Optimisation</a:t>
            </a:r>
          </a:p>
        </p:txBody>
      </p:sp>
      <p:pic>
        <p:nvPicPr>
          <p:cNvPr id="357" name="pasted-movie.png" descr="pasted-movie.png"/>
          <p:cNvPicPr>
            <a:picLocks noChangeAspect="1"/>
          </p:cNvPicPr>
          <p:nvPr/>
        </p:nvPicPr>
        <p:blipFill>
          <a:blip r:embed="rId3">
            <a:extLst/>
          </a:blip>
          <a:stretch>
            <a:fillRect/>
          </a:stretch>
        </p:blipFill>
        <p:spPr>
          <a:xfrm>
            <a:off x="9803094" y="3721100"/>
            <a:ext cx="14568206" cy="8194616"/>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AI accelerators for deep learning inference"/>
          <p:cNvSpPr txBox="1"/>
          <p:nvPr>
            <p:ph type="title"/>
          </p:nvPr>
        </p:nvSpPr>
        <p:spPr>
          <a:prstGeom prst="rect">
            <a:avLst/>
          </a:prstGeom>
        </p:spPr>
        <p:txBody>
          <a:bodyPr/>
          <a:lstStyle/>
          <a:p>
            <a:pPr/>
            <a:r>
              <a:t>AI accelerators for deep learning inference</a:t>
            </a:r>
          </a:p>
        </p:txBody>
      </p:sp>
      <p:sp>
        <p:nvSpPr>
          <p:cNvPr id="360" name="An AI accelerator is a dedicated processor designed to accelerate machine learning computations.…"/>
          <p:cNvSpPr txBox="1"/>
          <p:nvPr>
            <p:ph type="body" idx="1"/>
          </p:nvPr>
        </p:nvSpPr>
        <p:spPr>
          <a:xfrm>
            <a:off x="1206500" y="2868967"/>
            <a:ext cx="21971000" cy="9635549"/>
          </a:xfrm>
          <a:prstGeom prst="rect">
            <a:avLst/>
          </a:prstGeom>
        </p:spPr>
        <p:txBody>
          <a:bodyPr/>
          <a:lstStyle/>
          <a:p>
            <a:pPr marL="597408" indent="-597408" defTabSz="2389572">
              <a:spcBef>
                <a:spcPts val="4400"/>
              </a:spcBef>
              <a:defRPr sz="4704">
                <a:latin typeface="+mn-lt"/>
                <a:ea typeface="+mn-ea"/>
                <a:cs typeface="+mn-cs"/>
                <a:sym typeface="Helvetica"/>
              </a:defRPr>
            </a:pPr>
            <a:r>
              <a:t>An AI accelerator is a dedicated processor designed to accelerate machine learning computations.</a:t>
            </a:r>
          </a:p>
          <a:p>
            <a:pPr marL="597408" indent="-597408" defTabSz="2389572">
              <a:spcBef>
                <a:spcPts val="4400"/>
              </a:spcBef>
              <a:defRPr sz="4704">
                <a:latin typeface="+mn-lt"/>
                <a:ea typeface="+mn-ea"/>
                <a:cs typeface="+mn-cs"/>
                <a:sym typeface="Helvetica"/>
              </a:defRPr>
            </a:pPr>
            <a:r>
              <a:t>Deep learning is primarily composed of a large number of linear algebra computations, (i.e. matrix-matrix, matrix-vector operations) and these operations can be easily parallelised.</a:t>
            </a:r>
          </a:p>
          <a:p>
            <a:pPr marL="597408" indent="-597408" defTabSz="2389572">
              <a:spcBef>
                <a:spcPts val="4400"/>
              </a:spcBef>
              <a:defRPr sz="4704">
                <a:latin typeface="+mn-lt"/>
                <a:ea typeface="+mn-ea"/>
                <a:cs typeface="+mn-cs"/>
                <a:sym typeface="Helvetica"/>
              </a:defRPr>
            </a:pPr>
            <a:r>
              <a:t>Inference is often the most time consuming part of your application that directly affects user experience.</a:t>
            </a:r>
          </a:p>
          <a:p>
            <a:pPr marL="597408" indent="-597408" defTabSz="2389572">
              <a:spcBef>
                <a:spcPts val="4400"/>
              </a:spcBef>
              <a:defRPr sz="4704">
                <a:latin typeface="+mn-lt"/>
                <a:ea typeface="+mn-ea"/>
                <a:cs typeface="+mn-cs"/>
                <a:sym typeface="Helvetica"/>
              </a:defRPr>
            </a:pPr>
            <a:r>
              <a:rPr b="1"/>
              <a:t>iGPU integrated graphics processing</a:t>
            </a:r>
            <a:r>
              <a:t> </a:t>
            </a:r>
            <a:r>
              <a:rPr b="1"/>
              <a:t>on the vast majority of Intel Core and AMD Ryzen processors</a:t>
            </a:r>
          </a:p>
          <a:p>
            <a:pPr marL="597408" indent="-597408" defTabSz="2389572">
              <a:spcBef>
                <a:spcPts val="4400"/>
              </a:spcBef>
              <a:defRPr b="1" sz="4704">
                <a:latin typeface="+mn-lt"/>
                <a:ea typeface="+mn-ea"/>
                <a:cs typeface="+mn-cs"/>
                <a:sym typeface="Helvetica"/>
              </a:defRPr>
            </a:pPr>
            <a:r>
              <a:t>dGPU discrete graphics processing unity typically supplied by AMD and Nvidia</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62" name="pasted-movie.png" descr="pasted-movie.png"/>
          <p:cNvPicPr>
            <a:picLocks noChangeAspect="1"/>
          </p:cNvPicPr>
          <p:nvPr/>
        </p:nvPicPr>
        <p:blipFill>
          <a:blip r:embed="rId2">
            <a:extLst/>
          </a:blip>
          <a:stretch>
            <a:fillRect/>
          </a:stretch>
        </p:blipFill>
        <p:spPr>
          <a:xfrm>
            <a:off x="2032000" y="3105150"/>
            <a:ext cx="20320000" cy="7505700"/>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91" name="Group 180"/>
          <p:cNvGrpSpPr/>
          <p:nvPr/>
        </p:nvGrpSpPr>
        <p:grpSpPr>
          <a:xfrm>
            <a:off x="2986222" y="2028491"/>
            <a:ext cx="5694048" cy="4568193"/>
            <a:chOff x="0" y="0"/>
            <a:chExt cx="5694046" cy="4568192"/>
          </a:xfrm>
        </p:grpSpPr>
        <p:sp>
          <p:nvSpPr>
            <p:cNvPr id="364" name="Elbow Connector 101"/>
            <p:cNvSpPr/>
            <p:nvPr/>
          </p:nvSpPr>
          <p:spPr>
            <a:xfrm flipH="1" rot="16200000">
              <a:off x="722015" y="444563"/>
              <a:ext cx="919231" cy="14422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pic>
          <p:nvPicPr>
            <p:cNvPr id="365" name="Picture 2" descr="Picture 2"/>
            <p:cNvPicPr>
              <a:picLocks noChangeAspect="1"/>
            </p:cNvPicPr>
            <p:nvPr/>
          </p:nvPicPr>
          <p:blipFill>
            <a:blip r:embed="rId2">
              <a:extLst/>
            </a:blip>
            <a:srcRect l="0" t="0" r="0" b="9657"/>
            <a:stretch>
              <a:fillRect/>
            </a:stretch>
          </p:blipFill>
          <p:spPr>
            <a:xfrm>
              <a:off x="96716" y="-1"/>
              <a:ext cx="727534" cy="706098"/>
            </a:xfrm>
            <a:prstGeom prst="rect">
              <a:avLst/>
            </a:prstGeom>
            <a:ln w="12700" cap="flat">
              <a:noFill/>
              <a:miter lim="400000"/>
            </a:ln>
            <a:effectLst/>
          </p:spPr>
        </p:pic>
        <p:pic>
          <p:nvPicPr>
            <p:cNvPr id="366" name="Graphic 104" descr="Graphic 104"/>
            <p:cNvPicPr>
              <a:picLocks noChangeAspect="1"/>
            </p:cNvPicPr>
            <p:nvPr/>
          </p:nvPicPr>
          <p:blipFill>
            <a:blip r:embed="rId3">
              <a:extLst/>
            </a:blip>
            <a:stretch>
              <a:fillRect/>
            </a:stretch>
          </p:blipFill>
          <p:spPr>
            <a:xfrm>
              <a:off x="0" y="3052847"/>
              <a:ext cx="5694047" cy="1515346"/>
            </a:xfrm>
            <a:prstGeom prst="rect">
              <a:avLst/>
            </a:prstGeom>
            <a:ln w="12700" cap="flat">
              <a:noFill/>
              <a:miter lim="400000"/>
            </a:ln>
            <a:effectLst/>
          </p:spPr>
        </p:pic>
        <p:pic>
          <p:nvPicPr>
            <p:cNvPr id="367" name="Picture 2" descr="Picture 2"/>
            <p:cNvPicPr>
              <a:picLocks noChangeAspect="1"/>
            </p:cNvPicPr>
            <p:nvPr/>
          </p:nvPicPr>
          <p:blipFill>
            <a:blip r:embed="rId2">
              <a:extLst/>
            </a:blip>
            <a:srcRect l="0" t="0" r="0" b="9657"/>
            <a:stretch>
              <a:fillRect/>
            </a:stretch>
          </p:blipFill>
          <p:spPr>
            <a:xfrm>
              <a:off x="1549306" y="-1"/>
              <a:ext cx="707377" cy="686535"/>
            </a:xfrm>
            <a:prstGeom prst="rect">
              <a:avLst/>
            </a:prstGeom>
            <a:ln w="12700" cap="flat">
              <a:noFill/>
              <a:miter lim="400000"/>
            </a:ln>
            <a:effectLst/>
          </p:spPr>
        </p:pic>
        <p:pic>
          <p:nvPicPr>
            <p:cNvPr id="368" name="Picture 2" descr="Picture 2"/>
            <p:cNvPicPr>
              <a:picLocks noChangeAspect="1"/>
            </p:cNvPicPr>
            <p:nvPr/>
          </p:nvPicPr>
          <p:blipFill>
            <a:blip r:embed="rId2">
              <a:extLst/>
            </a:blip>
            <a:srcRect l="0" t="0" r="0" b="9657"/>
            <a:stretch>
              <a:fillRect/>
            </a:stretch>
          </p:blipFill>
          <p:spPr>
            <a:xfrm>
              <a:off x="2704202" y="-1"/>
              <a:ext cx="707377" cy="686535"/>
            </a:xfrm>
            <a:prstGeom prst="rect">
              <a:avLst/>
            </a:prstGeom>
            <a:ln w="12700" cap="flat">
              <a:noFill/>
              <a:miter lim="400000"/>
            </a:ln>
            <a:effectLst/>
          </p:spPr>
        </p:pic>
        <p:pic>
          <p:nvPicPr>
            <p:cNvPr id="369" name="Picture 2" descr="Picture 2"/>
            <p:cNvPicPr>
              <a:picLocks noChangeAspect="1"/>
            </p:cNvPicPr>
            <p:nvPr/>
          </p:nvPicPr>
          <p:blipFill>
            <a:blip r:embed="rId2">
              <a:extLst/>
            </a:blip>
            <a:srcRect l="0" t="0" r="0" b="9657"/>
            <a:stretch>
              <a:fillRect/>
            </a:stretch>
          </p:blipFill>
          <p:spPr>
            <a:xfrm>
              <a:off x="4611250" y="-1"/>
              <a:ext cx="707377" cy="686535"/>
            </a:xfrm>
            <a:prstGeom prst="rect">
              <a:avLst/>
            </a:prstGeom>
            <a:ln w="12700" cap="flat">
              <a:noFill/>
              <a:miter lim="400000"/>
            </a:ln>
            <a:effectLst/>
          </p:spPr>
        </p:pic>
        <p:sp>
          <p:nvSpPr>
            <p:cNvPr id="370" name="Elbow Connector 117"/>
            <p:cNvSpPr/>
            <p:nvPr/>
          </p:nvSpPr>
          <p:spPr>
            <a:xfrm rot="5400000">
              <a:off x="1433491" y="1143241"/>
              <a:ext cx="938795" cy="253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371" name="Elbow Connector 118"/>
            <p:cNvSpPr/>
            <p:nvPr/>
          </p:nvSpPr>
          <p:spPr>
            <a:xfrm flipH="1" rot="16200000">
              <a:off x="2938531" y="805892"/>
              <a:ext cx="978397" cy="7396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pic>
          <p:nvPicPr>
            <p:cNvPr id="372" name="Picture 2" descr="Picture 2"/>
            <p:cNvPicPr>
              <a:picLocks noChangeAspect="1"/>
            </p:cNvPicPr>
            <p:nvPr/>
          </p:nvPicPr>
          <p:blipFill>
            <a:blip r:embed="rId2">
              <a:extLst/>
            </a:blip>
            <a:srcRect l="0" t="0" r="0" b="9657"/>
            <a:stretch>
              <a:fillRect/>
            </a:stretch>
          </p:blipFill>
          <p:spPr>
            <a:xfrm>
              <a:off x="3657726" y="-1"/>
              <a:ext cx="707377" cy="686535"/>
            </a:xfrm>
            <a:prstGeom prst="rect">
              <a:avLst/>
            </a:prstGeom>
            <a:ln w="12700" cap="flat">
              <a:noFill/>
              <a:miter lim="400000"/>
            </a:ln>
            <a:effectLst/>
          </p:spPr>
        </p:pic>
        <p:pic>
          <p:nvPicPr>
            <p:cNvPr id="373" name="Picture 6" descr="Picture 6"/>
            <p:cNvPicPr>
              <a:picLocks noChangeAspect="1"/>
            </p:cNvPicPr>
            <p:nvPr/>
          </p:nvPicPr>
          <p:blipFill>
            <a:blip r:embed="rId4">
              <a:extLst/>
            </a:blip>
            <a:stretch>
              <a:fillRect/>
            </a:stretch>
          </p:blipFill>
          <p:spPr>
            <a:xfrm>
              <a:off x="3307882" y="3274953"/>
              <a:ext cx="979372" cy="979372"/>
            </a:xfrm>
            <a:prstGeom prst="rect">
              <a:avLst/>
            </a:prstGeom>
            <a:ln w="12700" cap="flat">
              <a:noFill/>
              <a:miter lim="400000"/>
            </a:ln>
            <a:effectLst/>
          </p:spPr>
        </p:pic>
        <p:grpSp>
          <p:nvGrpSpPr>
            <p:cNvPr id="376" name="Rectangle 110"/>
            <p:cNvGrpSpPr/>
            <p:nvPr/>
          </p:nvGrpSpPr>
          <p:grpSpPr>
            <a:xfrm>
              <a:off x="3195955" y="1664931"/>
              <a:ext cx="1203228" cy="1126468"/>
              <a:chOff x="0" y="0"/>
              <a:chExt cx="1203227" cy="1126466"/>
            </a:xfrm>
          </p:grpSpPr>
          <p:sp>
            <p:nvSpPr>
              <p:cNvPr id="374" name="Rectangle"/>
              <p:cNvSpPr/>
              <p:nvPr/>
            </p:nvSpPr>
            <p:spPr>
              <a:xfrm>
                <a:off x="0" y="0"/>
                <a:ext cx="1203228" cy="1126468"/>
              </a:xfrm>
              <a:prstGeom prst="rect">
                <a:avLst/>
              </a:prstGeom>
              <a:solidFill>
                <a:srgbClr val="FFFFFF"/>
              </a:solidFill>
              <a:ln w="19050" cap="flat">
                <a:solidFill>
                  <a:srgbClr val="0091DA"/>
                </a:solidFill>
                <a:prstDash val="solid"/>
                <a:round/>
              </a:ln>
              <a:effectLst/>
            </p:spPr>
            <p:txBody>
              <a:bodyPr wrap="square" lIns="45719" tIns="45719" rIns="45719" bIns="45719"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p>
            </p:txBody>
          </p:sp>
          <p:sp>
            <p:nvSpPr>
              <p:cNvPr id="375" name="CV App2"/>
              <p:cNvSpPr txBox="1"/>
              <p:nvPr/>
            </p:nvSpPr>
            <p:spPr>
              <a:xfrm>
                <a:off x="19034" y="30277"/>
                <a:ext cx="1165159" cy="10659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r>
                  <a:t>CV App2</a:t>
                </a:r>
                <a:br/>
              </a:p>
            </p:txBody>
          </p:sp>
        </p:grpSp>
        <p:grpSp>
          <p:nvGrpSpPr>
            <p:cNvPr id="379" name="Rectangle 111"/>
            <p:cNvGrpSpPr/>
            <p:nvPr/>
          </p:nvGrpSpPr>
          <p:grpSpPr>
            <a:xfrm>
              <a:off x="3209106" y="2505263"/>
              <a:ext cx="1176926" cy="304547"/>
              <a:chOff x="0" y="0"/>
              <a:chExt cx="1176925" cy="304546"/>
            </a:xfrm>
          </p:grpSpPr>
          <p:sp>
            <p:nvSpPr>
              <p:cNvPr id="377" name="Rectangle"/>
              <p:cNvSpPr/>
              <p:nvPr/>
            </p:nvSpPr>
            <p:spPr>
              <a:xfrm>
                <a:off x="0" y="16042"/>
                <a:ext cx="1176926" cy="272462"/>
              </a:xfrm>
              <a:prstGeom prst="rect">
                <a:avLst/>
              </a:prstGeom>
              <a:solidFill>
                <a:srgbClr val="78BE20"/>
              </a:solidFill>
              <a:ln w="19050" cap="flat">
                <a:solidFill>
                  <a:srgbClr val="3F3F3F"/>
                </a:solidFill>
                <a:prstDash val="solid"/>
                <a:round/>
              </a:ln>
              <a:effectLst/>
            </p:spPr>
            <p:txBody>
              <a:bodyPr wrap="square" lIns="45719" tIns="45719" rIns="45719" bIns="45719" numCol="1" anchor="ctr">
                <a:noAutofit/>
              </a:bodyPr>
              <a:lstStyle/>
              <a:p>
                <a:pPr algn="ctr" defTabSz="914400">
                  <a:lnSpc>
                    <a:spcPct val="100000"/>
                  </a:lnSpc>
                  <a:spcBef>
                    <a:spcPts val="600"/>
                  </a:spcBef>
                  <a:defRPr sz="1800">
                    <a:solidFill>
                      <a:srgbClr val="FFFFFF"/>
                    </a:solidFill>
                    <a:latin typeface="+mn-lt"/>
                    <a:ea typeface="+mn-ea"/>
                    <a:cs typeface="+mn-cs"/>
                    <a:sym typeface="Helvetica"/>
                  </a:defRPr>
                </a:pPr>
              </a:p>
            </p:txBody>
          </p:sp>
          <p:sp>
            <p:nvSpPr>
              <p:cNvPr id="378" name="GPU"/>
              <p:cNvSpPr txBox="1"/>
              <p:nvPr/>
            </p:nvSpPr>
            <p:spPr>
              <a:xfrm>
                <a:off x="19034" y="0"/>
                <a:ext cx="1138857" cy="3045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defTabSz="914400">
                  <a:lnSpc>
                    <a:spcPct val="100000"/>
                  </a:lnSpc>
                  <a:spcBef>
                    <a:spcPts val="600"/>
                  </a:spcBef>
                  <a:defRPr sz="1000">
                    <a:solidFill>
                      <a:srgbClr val="FFFFFF"/>
                    </a:solidFill>
                    <a:latin typeface="+mn-lt"/>
                    <a:ea typeface="+mn-ea"/>
                    <a:cs typeface="+mn-cs"/>
                    <a:sym typeface="Helvetica"/>
                  </a:defRPr>
                </a:lvl1pPr>
              </a:lstStyle>
              <a:p>
                <a:pPr/>
                <a:r>
                  <a:t>GPU</a:t>
                </a:r>
              </a:p>
            </p:txBody>
          </p:sp>
        </p:grpSp>
        <p:sp>
          <p:nvSpPr>
            <p:cNvPr id="380" name="Elbow Connector 143"/>
            <p:cNvSpPr/>
            <p:nvPr/>
          </p:nvSpPr>
          <p:spPr>
            <a:xfrm>
              <a:off x="3798839" y="2795038"/>
              <a:ext cx="1" cy="481184"/>
            </a:xfrm>
            <a:prstGeom prst="line">
              <a:avLst/>
            </a:prstGeom>
            <a:noFill/>
            <a:ln w="25400" cap="flat">
              <a:solidFill>
                <a:srgbClr val="717074"/>
              </a:solidFill>
              <a:prstDash val="solid"/>
              <a:miter lim="800000"/>
            </a:ln>
            <a:effectLst/>
          </p:spPr>
          <p:txBody>
            <a:bodyPr wrap="square" lIns="45719" tIns="45719" rIns="45719" bIns="45719" numCol="1" anchor="t">
              <a:noAutofit/>
            </a:bodyPr>
            <a:lstStyle/>
            <a:p>
              <a:pPr defTabSz="914400">
                <a:lnSpc>
                  <a:spcPct val="100000"/>
                </a:lnSpc>
                <a:spcBef>
                  <a:spcPts val="0"/>
                </a:spcBef>
                <a:defRPr sz="1800">
                  <a:solidFill>
                    <a:srgbClr val="717074"/>
                  </a:solidFill>
                  <a:latin typeface="+mn-lt"/>
                  <a:ea typeface="+mn-ea"/>
                  <a:cs typeface="+mn-cs"/>
                  <a:sym typeface="Helvetica"/>
                </a:defRPr>
              </a:pPr>
            </a:p>
          </p:txBody>
        </p:sp>
        <p:pic>
          <p:nvPicPr>
            <p:cNvPr id="381" name="Picture 6" descr="Picture 6"/>
            <p:cNvPicPr>
              <a:picLocks noChangeAspect="1"/>
            </p:cNvPicPr>
            <p:nvPr/>
          </p:nvPicPr>
          <p:blipFill>
            <a:blip r:embed="rId4">
              <a:extLst/>
            </a:blip>
            <a:stretch>
              <a:fillRect/>
            </a:stretch>
          </p:blipFill>
          <p:spPr>
            <a:xfrm>
              <a:off x="1413091" y="3274953"/>
              <a:ext cx="979373" cy="979372"/>
            </a:xfrm>
            <a:prstGeom prst="rect">
              <a:avLst/>
            </a:prstGeom>
            <a:ln w="12700" cap="flat">
              <a:noFill/>
              <a:miter lim="400000"/>
            </a:ln>
            <a:effectLst/>
          </p:spPr>
        </p:pic>
        <p:grpSp>
          <p:nvGrpSpPr>
            <p:cNvPr id="384" name="Rectangle 92"/>
            <p:cNvGrpSpPr/>
            <p:nvPr/>
          </p:nvGrpSpPr>
          <p:grpSpPr>
            <a:xfrm>
              <a:off x="1301164" y="1625327"/>
              <a:ext cx="1203229" cy="1126468"/>
              <a:chOff x="0" y="0"/>
              <a:chExt cx="1203227" cy="1126466"/>
            </a:xfrm>
          </p:grpSpPr>
          <p:sp>
            <p:nvSpPr>
              <p:cNvPr id="382" name="Rectangle"/>
              <p:cNvSpPr/>
              <p:nvPr/>
            </p:nvSpPr>
            <p:spPr>
              <a:xfrm>
                <a:off x="0" y="0"/>
                <a:ext cx="1203228" cy="1126468"/>
              </a:xfrm>
              <a:prstGeom prst="rect">
                <a:avLst/>
              </a:prstGeom>
              <a:solidFill>
                <a:srgbClr val="FFFFFF"/>
              </a:solidFill>
              <a:ln w="19050" cap="flat">
                <a:solidFill>
                  <a:srgbClr val="0091DA"/>
                </a:solidFill>
                <a:prstDash val="solid"/>
                <a:round/>
              </a:ln>
              <a:effectLst/>
            </p:spPr>
            <p:txBody>
              <a:bodyPr wrap="square" lIns="45719" tIns="45719" rIns="45719" bIns="45719"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p>
            </p:txBody>
          </p:sp>
          <p:sp>
            <p:nvSpPr>
              <p:cNvPr id="383" name="CV App1"/>
              <p:cNvSpPr txBox="1"/>
              <p:nvPr/>
            </p:nvSpPr>
            <p:spPr>
              <a:xfrm>
                <a:off x="19034" y="30277"/>
                <a:ext cx="1165159" cy="10659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r>
                  <a:t>CV App1</a:t>
                </a:r>
                <a:br/>
              </a:p>
            </p:txBody>
          </p:sp>
        </p:grpSp>
        <p:grpSp>
          <p:nvGrpSpPr>
            <p:cNvPr id="387" name="Rectangle 93"/>
            <p:cNvGrpSpPr/>
            <p:nvPr/>
          </p:nvGrpSpPr>
          <p:grpSpPr>
            <a:xfrm>
              <a:off x="1314315" y="2463290"/>
              <a:ext cx="1176927" cy="304547"/>
              <a:chOff x="0" y="0"/>
              <a:chExt cx="1176925" cy="304546"/>
            </a:xfrm>
          </p:grpSpPr>
          <p:sp>
            <p:nvSpPr>
              <p:cNvPr id="385" name="Rectangle"/>
              <p:cNvSpPr/>
              <p:nvPr/>
            </p:nvSpPr>
            <p:spPr>
              <a:xfrm>
                <a:off x="0" y="16042"/>
                <a:ext cx="1176926" cy="272462"/>
              </a:xfrm>
              <a:prstGeom prst="rect">
                <a:avLst/>
              </a:prstGeom>
              <a:solidFill>
                <a:srgbClr val="78BE20"/>
              </a:solidFill>
              <a:ln w="19050" cap="flat">
                <a:solidFill>
                  <a:srgbClr val="3F3F3F"/>
                </a:solidFill>
                <a:prstDash val="solid"/>
                <a:round/>
              </a:ln>
              <a:effectLst/>
            </p:spPr>
            <p:txBody>
              <a:bodyPr wrap="square" lIns="45719" tIns="45719" rIns="45719" bIns="45719" numCol="1" anchor="ctr">
                <a:noAutofit/>
              </a:bodyPr>
              <a:lstStyle/>
              <a:p>
                <a:pPr algn="ctr" defTabSz="914400">
                  <a:lnSpc>
                    <a:spcPct val="100000"/>
                  </a:lnSpc>
                  <a:spcBef>
                    <a:spcPts val="600"/>
                  </a:spcBef>
                  <a:defRPr sz="1800">
                    <a:solidFill>
                      <a:srgbClr val="FFFFFF"/>
                    </a:solidFill>
                    <a:latin typeface="+mn-lt"/>
                    <a:ea typeface="+mn-ea"/>
                    <a:cs typeface="+mn-cs"/>
                    <a:sym typeface="Helvetica"/>
                  </a:defRPr>
                </a:pPr>
              </a:p>
            </p:txBody>
          </p:sp>
          <p:sp>
            <p:nvSpPr>
              <p:cNvPr id="386" name="GPU"/>
              <p:cNvSpPr txBox="1"/>
              <p:nvPr/>
            </p:nvSpPr>
            <p:spPr>
              <a:xfrm>
                <a:off x="19034" y="0"/>
                <a:ext cx="1138857" cy="3045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defTabSz="914400">
                  <a:lnSpc>
                    <a:spcPct val="100000"/>
                  </a:lnSpc>
                  <a:spcBef>
                    <a:spcPts val="600"/>
                  </a:spcBef>
                  <a:defRPr sz="1000">
                    <a:solidFill>
                      <a:srgbClr val="FFFFFF"/>
                    </a:solidFill>
                    <a:latin typeface="+mn-lt"/>
                    <a:ea typeface="+mn-ea"/>
                    <a:cs typeface="+mn-cs"/>
                    <a:sym typeface="Helvetica"/>
                  </a:defRPr>
                </a:lvl1pPr>
              </a:lstStyle>
              <a:p>
                <a:pPr/>
                <a:r>
                  <a:t>GPU</a:t>
                </a:r>
              </a:p>
            </p:txBody>
          </p:sp>
        </p:grpSp>
        <p:sp>
          <p:nvSpPr>
            <p:cNvPr id="388" name="Elbow Connector 94"/>
            <p:cNvSpPr/>
            <p:nvPr/>
          </p:nvSpPr>
          <p:spPr>
            <a:xfrm>
              <a:off x="1904048" y="2753065"/>
              <a:ext cx="1" cy="523157"/>
            </a:xfrm>
            <a:prstGeom prst="line">
              <a:avLst/>
            </a:prstGeom>
            <a:noFill/>
            <a:ln w="25400" cap="flat">
              <a:solidFill>
                <a:srgbClr val="717074"/>
              </a:solidFill>
              <a:prstDash val="solid"/>
              <a:miter lim="800000"/>
            </a:ln>
            <a:effectLst/>
          </p:spPr>
          <p:txBody>
            <a:bodyPr wrap="square" lIns="45719" tIns="45719" rIns="45719" bIns="45719" numCol="1" anchor="t">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389" name="Elbow Connector 169"/>
            <p:cNvSpPr/>
            <p:nvPr/>
          </p:nvSpPr>
          <p:spPr>
            <a:xfrm rot="5400000">
              <a:off x="3415295" y="1068810"/>
              <a:ext cx="978397" cy="2138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390" name="Elbow Connector 172"/>
            <p:cNvSpPr/>
            <p:nvPr/>
          </p:nvSpPr>
          <p:spPr>
            <a:xfrm rot="5400000">
              <a:off x="3892055" y="592046"/>
              <a:ext cx="978398" cy="11673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grpSp>
      <p:grpSp>
        <p:nvGrpSpPr>
          <p:cNvPr id="432" name="Group 176"/>
          <p:cNvGrpSpPr/>
          <p:nvPr/>
        </p:nvGrpSpPr>
        <p:grpSpPr>
          <a:xfrm>
            <a:off x="2937074" y="7497446"/>
            <a:ext cx="5694047" cy="4552815"/>
            <a:chOff x="0" y="0"/>
            <a:chExt cx="5694046" cy="4552814"/>
          </a:xfrm>
        </p:grpSpPr>
        <p:pic>
          <p:nvPicPr>
            <p:cNvPr id="392" name="Graphic 10" descr="Graphic 10"/>
            <p:cNvPicPr>
              <a:picLocks noChangeAspect="1"/>
            </p:cNvPicPr>
            <p:nvPr/>
          </p:nvPicPr>
          <p:blipFill>
            <a:blip r:embed="rId3">
              <a:extLst/>
            </a:blip>
            <a:stretch>
              <a:fillRect/>
            </a:stretch>
          </p:blipFill>
          <p:spPr>
            <a:xfrm>
              <a:off x="0" y="3045058"/>
              <a:ext cx="5665531" cy="1507757"/>
            </a:xfrm>
            <a:prstGeom prst="rect">
              <a:avLst/>
            </a:prstGeom>
            <a:ln w="12700" cap="flat">
              <a:noFill/>
              <a:miter lim="400000"/>
            </a:ln>
            <a:effectLst/>
          </p:spPr>
        </p:pic>
        <p:pic>
          <p:nvPicPr>
            <p:cNvPr id="393" name="Picture 6" descr="Picture 6"/>
            <p:cNvPicPr>
              <a:picLocks noChangeAspect="1"/>
            </p:cNvPicPr>
            <p:nvPr/>
          </p:nvPicPr>
          <p:blipFill>
            <a:blip r:embed="rId4">
              <a:extLst/>
            </a:blip>
            <a:stretch>
              <a:fillRect/>
            </a:stretch>
          </p:blipFill>
          <p:spPr>
            <a:xfrm>
              <a:off x="3110183" y="3261857"/>
              <a:ext cx="974467" cy="974468"/>
            </a:xfrm>
            <a:prstGeom prst="rect">
              <a:avLst/>
            </a:prstGeom>
            <a:ln w="12700" cap="flat">
              <a:noFill/>
              <a:miter lim="400000"/>
            </a:ln>
            <a:effectLst/>
          </p:spPr>
        </p:pic>
        <p:sp>
          <p:nvSpPr>
            <p:cNvPr id="394" name="Elbow Connector 6"/>
            <p:cNvSpPr/>
            <p:nvPr/>
          </p:nvSpPr>
          <p:spPr>
            <a:xfrm flipH="1">
              <a:off x="612868" y="711324"/>
              <a:ext cx="1" cy="321415"/>
            </a:xfrm>
            <a:prstGeom prst="line">
              <a:avLst/>
            </a:prstGeom>
            <a:noFill/>
            <a:ln w="25400" cap="flat">
              <a:solidFill>
                <a:srgbClr val="717074"/>
              </a:solidFill>
              <a:prstDash val="solid"/>
              <a:miter lim="800000"/>
            </a:ln>
            <a:effectLst/>
          </p:spPr>
          <p:txBody>
            <a:bodyPr wrap="square" lIns="45719" tIns="45719" rIns="45719" bIns="45719" numCol="1" anchor="t">
              <a:noAutofit/>
            </a:bodyPr>
            <a:lstStyle/>
            <a:p>
              <a:pPr defTabSz="914400">
                <a:lnSpc>
                  <a:spcPct val="100000"/>
                </a:lnSpc>
                <a:spcBef>
                  <a:spcPts val="0"/>
                </a:spcBef>
                <a:defRPr sz="1800">
                  <a:solidFill>
                    <a:srgbClr val="717074"/>
                  </a:solidFill>
                  <a:latin typeface="+mn-lt"/>
                  <a:ea typeface="+mn-ea"/>
                  <a:cs typeface="+mn-cs"/>
                  <a:sym typeface="Helvetica"/>
                </a:defRPr>
              </a:pPr>
            </a:p>
          </p:txBody>
        </p:sp>
        <p:pic>
          <p:nvPicPr>
            <p:cNvPr id="395" name="Picture 2" descr="Picture 2"/>
            <p:cNvPicPr>
              <a:picLocks noChangeAspect="1"/>
            </p:cNvPicPr>
            <p:nvPr/>
          </p:nvPicPr>
          <p:blipFill>
            <a:blip r:embed="rId2">
              <a:extLst/>
            </a:blip>
            <a:srcRect l="0" t="0" r="0" b="9657"/>
            <a:stretch>
              <a:fillRect/>
            </a:stretch>
          </p:blipFill>
          <p:spPr>
            <a:xfrm>
              <a:off x="249657" y="7499"/>
              <a:ext cx="723891" cy="702562"/>
            </a:xfrm>
            <a:prstGeom prst="rect">
              <a:avLst/>
            </a:prstGeom>
            <a:ln w="12700" cap="flat">
              <a:noFill/>
              <a:miter lim="400000"/>
            </a:ln>
            <a:effectLst/>
          </p:spPr>
        </p:pic>
        <p:grpSp>
          <p:nvGrpSpPr>
            <p:cNvPr id="398" name="Rectangle 23"/>
            <p:cNvGrpSpPr/>
            <p:nvPr/>
          </p:nvGrpSpPr>
          <p:grpSpPr>
            <a:xfrm>
              <a:off x="12999" y="1031473"/>
              <a:ext cx="1197203" cy="1120828"/>
              <a:chOff x="0" y="0"/>
              <a:chExt cx="1197201" cy="1120826"/>
            </a:xfrm>
          </p:grpSpPr>
          <p:sp>
            <p:nvSpPr>
              <p:cNvPr id="396" name="Rectangle"/>
              <p:cNvSpPr/>
              <p:nvPr/>
            </p:nvSpPr>
            <p:spPr>
              <a:xfrm>
                <a:off x="0" y="0"/>
                <a:ext cx="1197202" cy="1120827"/>
              </a:xfrm>
              <a:prstGeom prst="rect">
                <a:avLst/>
              </a:prstGeom>
              <a:solidFill>
                <a:srgbClr val="FFFFFF"/>
              </a:solidFill>
              <a:ln w="19050" cap="flat">
                <a:solidFill>
                  <a:srgbClr val="0091DA"/>
                </a:solidFill>
                <a:prstDash val="solid"/>
                <a:round/>
              </a:ln>
              <a:effectLst/>
            </p:spPr>
            <p:txBody>
              <a:bodyPr wrap="square" lIns="45719" tIns="45719" rIns="45719" bIns="45719"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p>
            </p:txBody>
          </p:sp>
          <p:sp>
            <p:nvSpPr>
              <p:cNvPr id="397" name="CV App1"/>
              <p:cNvSpPr txBox="1"/>
              <p:nvPr/>
            </p:nvSpPr>
            <p:spPr>
              <a:xfrm>
                <a:off x="18970" y="29251"/>
                <a:ext cx="1159261" cy="10623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r>
                  <a:t>CV App1</a:t>
                </a:r>
                <a:br/>
              </a:p>
            </p:txBody>
          </p:sp>
        </p:grpSp>
        <p:grpSp>
          <p:nvGrpSpPr>
            <p:cNvPr id="401" name="Rectangle 24"/>
            <p:cNvGrpSpPr/>
            <p:nvPr/>
          </p:nvGrpSpPr>
          <p:grpSpPr>
            <a:xfrm>
              <a:off x="26085" y="1856695"/>
              <a:ext cx="1171032" cy="303522"/>
              <a:chOff x="0" y="0"/>
              <a:chExt cx="1171031" cy="303520"/>
            </a:xfrm>
          </p:grpSpPr>
          <p:sp>
            <p:nvSpPr>
              <p:cNvPr id="399" name="Rectangle"/>
              <p:cNvSpPr/>
              <p:nvPr/>
            </p:nvSpPr>
            <p:spPr>
              <a:xfrm>
                <a:off x="0" y="16211"/>
                <a:ext cx="1171032" cy="271099"/>
              </a:xfrm>
              <a:prstGeom prst="rect">
                <a:avLst/>
              </a:prstGeom>
              <a:solidFill>
                <a:srgbClr val="78BE20"/>
              </a:solidFill>
              <a:ln w="19050" cap="flat">
                <a:solidFill>
                  <a:srgbClr val="3F3F3F"/>
                </a:solidFill>
                <a:prstDash val="solid"/>
                <a:round/>
              </a:ln>
              <a:effectLst/>
            </p:spPr>
            <p:txBody>
              <a:bodyPr wrap="square" lIns="45719" tIns="45719" rIns="45719" bIns="45719" numCol="1" anchor="ctr">
                <a:noAutofit/>
              </a:bodyPr>
              <a:lstStyle/>
              <a:p>
                <a:pPr algn="ctr" defTabSz="914400">
                  <a:lnSpc>
                    <a:spcPct val="100000"/>
                  </a:lnSpc>
                  <a:spcBef>
                    <a:spcPts val="600"/>
                  </a:spcBef>
                  <a:defRPr sz="1800">
                    <a:solidFill>
                      <a:srgbClr val="FFFFFF"/>
                    </a:solidFill>
                    <a:latin typeface="+mn-lt"/>
                    <a:ea typeface="+mn-ea"/>
                    <a:cs typeface="+mn-cs"/>
                    <a:sym typeface="Helvetica"/>
                  </a:defRPr>
                </a:pPr>
              </a:p>
            </p:txBody>
          </p:sp>
          <p:sp>
            <p:nvSpPr>
              <p:cNvPr id="400" name="vGPU"/>
              <p:cNvSpPr txBox="1"/>
              <p:nvPr/>
            </p:nvSpPr>
            <p:spPr>
              <a:xfrm>
                <a:off x="18970" y="0"/>
                <a:ext cx="1133092" cy="3035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defTabSz="914400">
                  <a:lnSpc>
                    <a:spcPct val="100000"/>
                  </a:lnSpc>
                  <a:spcBef>
                    <a:spcPts val="600"/>
                  </a:spcBef>
                  <a:defRPr sz="1000">
                    <a:solidFill>
                      <a:srgbClr val="FFFFFF"/>
                    </a:solidFill>
                    <a:latin typeface="+mn-lt"/>
                    <a:ea typeface="+mn-ea"/>
                    <a:cs typeface="+mn-cs"/>
                    <a:sym typeface="Helvetica"/>
                  </a:defRPr>
                </a:lvl1pPr>
              </a:lstStyle>
              <a:p>
                <a:pPr/>
                <a:r>
                  <a:t>vGPU</a:t>
                </a:r>
              </a:p>
            </p:txBody>
          </p:sp>
        </p:grpSp>
        <p:grpSp>
          <p:nvGrpSpPr>
            <p:cNvPr id="404" name="Rectangle 31"/>
            <p:cNvGrpSpPr/>
            <p:nvPr/>
          </p:nvGrpSpPr>
          <p:grpSpPr>
            <a:xfrm>
              <a:off x="1507614" y="1031473"/>
              <a:ext cx="1197203" cy="1120828"/>
              <a:chOff x="0" y="0"/>
              <a:chExt cx="1197201" cy="1120826"/>
            </a:xfrm>
          </p:grpSpPr>
          <p:sp>
            <p:nvSpPr>
              <p:cNvPr id="402" name="Rectangle"/>
              <p:cNvSpPr/>
              <p:nvPr/>
            </p:nvSpPr>
            <p:spPr>
              <a:xfrm>
                <a:off x="0" y="0"/>
                <a:ext cx="1197202" cy="1120827"/>
              </a:xfrm>
              <a:prstGeom prst="rect">
                <a:avLst/>
              </a:prstGeom>
              <a:solidFill>
                <a:srgbClr val="FFFFFF"/>
              </a:solidFill>
              <a:ln w="19050" cap="flat">
                <a:solidFill>
                  <a:srgbClr val="0091DA"/>
                </a:solidFill>
                <a:prstDash val="solid"/>
                <a:round/>
              </a:ln>
              <a:effectLst/>
            </p:spPr>
            <p:txBody>
              <a:bodyPr wrap="square" lIns="45719" tIns="45719" rIns="45719" bIns="45719"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p>
            </p:txBody>
          </p:sp>
          <p:sp>
            <p:nvSpPr>
              <p:cNvPr id="403" name="CV App2"/>
              <p:cNvSpPr txBox="1"/>
              <p:nvPr/>
            </p:nvSpPr>
            <p:spPr>
              <a:xfrm>
                <a:off x="18970" y="29251"/>
                <a:ext cx="1159261" cy="10623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r>
                  <a:t>CV App2</a:t>
                </a:r>
                <a:br/>
              </a:p>
            </p:txBody>
          </p:sp>
        </p:grpSp>
        <p:grpSp>
          <p:nvGrpSpPr>
            <p:cNvPr id="407" name="Rectangle 32"/>
            <p:cNvGrpSpPr/>
            <p:nvPr/>
          </p:nvGrpSpPr>
          <p:grpSpPr>
            <a:xfrm>
              <a:off x="1520700" y="1856695"/>
              <a:ext cx="1171032" cy="303522"/>
              <a:chOff x="0" y="0"/>
              <a:chExt cx="1171031" cy="303520"/>
            </a:xfrm>
          </p:grpSpPr>
          <p:sp>
            <p:nvSpPr>
              <p:cNvPr id="405" name="Rectangle"/>
              <p:cNvSpPr/>
              <p:nvPr/>
            </p:nvSpPr>
            <p:spPr>
              <a:xfrm>
                <a:off x="0" y="16211"/>
                <a:ext cx="1171032" cy="271099"/>
              </a:xfrm>
              <a:prstGeom prst="rect">
                <a:avLst/>
              </a:prstGeom>
              <a:solidFill>
                <a:srgbClr val="78BE20"/>
              </a:solidFill>
              <a:ln w="19050" cap="flat">
                <a:solidFill>
                  <a:srgbClr val="3F3F3F"/>
                </a:solidFill>
                <a:prstDash val="solid"/>
                <a:round/>
              </a:ln>
              <a:effectLst/>
            </p:spPr>
            <p:txBody>
              <a:bodyPr wrap="square" lIns="45719" tIns="45719" rIns="45719" bIns="45719" numCol="1" anchor="ctr">
                <a:noAutofit/>
              </a:bodyPr>
              <a:lstStyle/>
              <a:p>
                <a:pPr algn="ctr" defTabSz="914400">
                  <a:lnSpc>
                    <a:spcPct val="100000"/>
                  </a:lnSpc>
                  <a:spcBef>
                    <a:spcPts val="600"/>
                  </a:spcBef>
                  <a:defRPr sz="1800">
                    <a:solidFill>
                      <a:srgbClr val="FFFFFF"/>
                    </a:solidFill>
                    <a:latin typeface="+mn-lt"/>
                    <a:ea typeface="+mn-ea"/>
                    <a:cs typeface="+mn-cs"/>
                    <a:sym typeface="Helvetica"/>
                  </a:defRPr>
                </a:pPr>
              </a:p>
            </p:txBody>
          </p:sp>
          <p:sp>
            <p:nvSpPr>
              <p:cNvPr id="406" name="vGPU"/>
              <p:cNvSpPr txBox="1"/>
              <p:nvPr/>
            </p:nvSpPr>
            <p:spPr>
              <a:xfrm>
                <a:off x="18970" y="0"/>
                <a:ext cx="1133092" cy="3035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defTabSz="914400">
                  <a:lnSpc>
                    <a:spcPct val="100000"/>
                  </a:lnSpc>
                  <a:spcBef>
                    <a:spcPts val="600"/>
                  </a:spcBef>
                  <a:defRPr sz="1000">
                    <a:solidFill>
                      <a:srgbClr val="FFFFFF"/>
                    </a:solidFill>
                    <a:latin typeface="+mn-lt"/>
                    <a:ea typeface="+mn-ea"/>
                    <a:cs typeface="+mn-cs"/>
                    <a:sym typeface="Helvetica"/>
                  </a:defRPr>
                </a:lvl1pPr>
              </a:lstStyle>
              <a:p>
                <a:pPr/>
                <a:r>
                  <a:t>vGPU</a:t>
                </a:r>
              </a:p>
            </p:txBody>
          </p:sp>
        </p:grpSp>
        <p:grpSp>
          <p:nvGrpSpPr>
            <p:cNvPr id="410" name="Rectangle 33"/>
            <p:cNvGrpSpPr/>
            <p:nvPr/>
          </p:nvGrpSpPr>
          <p:grpSpPr>
            <a:xfrm>
              <a:off x="3002230" y="1031473"/>
              <a:ext cx="1197202" cy="1120828"/>
              <a:chOff x="0" y="0"/>
              <a:chExt cx="1197201" cy="1120826"/>
            </a:xfrm>
          </p:grpSpPr>
          <p:sp>
            <p:nvSpPr>
              <p:cNvPr id="408" name="Rectangle"/>
              <p:cNvSpPr/>
              <p:nvPr/>
            </p:nvSpPr>
            <p:spPr>
              <a:xfrm>
                <a:off x="0" y="0"/>
                <a:ext cx="1197202" cy="1120827"/>
              </a:xfrm>
              <a:prstGeom prst="rect">
                <a:avLst/>
              </a:prstGeom>
              <a:solidFill>
                <a:srgbClr val="FFFFFF"/>
              </a:solidFill>
              <a:ln w="19050" cap="flat">
                <a:solidFill>
                  <a:srgbClr val="0091DA"/>
                </a:solidFill>
                <a:prstDash val="solid"/>
                <a:round/>
              </a:ln>
              <a:effectLst/>
            </p:spPr>
            <p:txBody>
              <a:bodyPr wrap="square" lIns="45719" tIns="45719" rIns="45719" bIns="45719"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p>
            </p:txBody>
          </p:sp>
          <p:sp>
            <p:nvSpPr>
              <p:cNvPr id="409" name="CV App3"/>
              <p:cNvSpPr txBox="1"/>
              <p:nvPr/>
            </p:nvSpPr>
            <p:spPr>
              <a:xfrm>
                <a:off x="18970" y="29251"/>
                <a:ext cx="1159261" cy="10623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r>
                  <a:t>CV App3</a:t>
                </a:r>
                <a:br/>
              </a:p>
            </p:txBody>
          </p:sp>
        </p:grpSp>
        <p:grpSp>
          <p:nvGrpSpPr>
            <p:cNvPr id="413" name="Rectangle 34"/>
            <p:cNvGrpSpPr/>
            <p:nvPr/>
          </p:nvGrpSpPr>
          <p:grpSpPr>
            <a:xfrm>
              <a:off x="3015315" y="1856695"/>
              <a:ext cx="1171032" cy="303522"/>
              <a:chOff x="0" y="0"/>
              <a:chExt cx="1171031" cy="303520"/>
            </a:xfrm>
          </p:grpSpPr>
          <p:sp>
            <p:nvSpPr>
              <p:cNvPr id="411" name="Rectangle"/>
              <p:cNvSpPr/>
              <p:nvPr/>
            </p:nvSpPr>
            <p:spPr>
              <a:xfrm>
                <a:off x="0" y="16211"/>
                <a:ext cx="1171032" cy="271099"/>
              </a:xfrm>
              <a:prstGeom prst="rect">
                <a:avLst/>
              </a:prstGeom>
              <a:solidFill>
                <a:srgbClr val="78BE20"/>
              </a:solidFill>
              <a:ln w="19050" cap="flat">
                <a:solidFill>
                  <a:srgbClr val="3F3F3F"/>
                </a:solidFill>
                <a:prstDash val="solid"/>
                <a:round/>
              </a:ln>
              <a:effectLst/>
            </p:spPr>
            <p:txBody>
              <a:bodyPr wrap="square" lIns="45719" tIns="45719" rIns="45719" bIns="45719" numCol="1" anchor="ctr">
                <a:noAutofit/>
              </a:bodyPr>
              <a:lstStyle/>
              <a:p>
                <a:pPr algn="ctr" defTabSz="914400">
                  <a:lnSpc>
                    <a:spcPct val="100000"/>
                  </a:lnSpc>
                  <a:spcBef>
                    <a:spcPts val="600"/>
                  </a:spcBef>
                  <a:defRPr sz="1800">
                    <a:solidFill>
                      <a:srgbClr val="FFFFFF"/>
                    </a:solidFill>
                    <a:latin typeface="+mn-lt"/>
                    <a:ea typeface="+mn-ea"/>
                    <a:cs typeface="+mn-cs"/>
                    <a:sym typeface="Helvetica"/>
                  </a:defRPr>
                </a:pPr>
              </a:p>
            </p:txBody>
          </p:sp>
          <p:sp>
            <p:nvSpPr>
              <p:cNvPr id="412" name="vGPU"/>
              <p:cNvSpPr txBox="1"/>
              <p:nvPr/>
            </p:nvSpPr>
            <p:spPr>
              <a:xfrm>
                <a:off x="18970" y="0"/>
                <a:ext cx="1133092" cy="3035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defTabSz="914400">
                  <a:lnSpc>
                    <a:spcPct val="100000"/>
                  </a:lnSpc>
                  <a:spcBef>
                    <a:spcPts val="600"/>
                  </a:spcBef>
                  <a:defRPr sz="1000">
                    <a:solidFill>
                      <a:srgbClr val="FFFFFF"/>
                    </a:solidFill>
                    <a:latin typeface="+mn-lt"/>
                    <a:ea typeface="+mn-ea"/>
                    <a:cs typeface="+mn-cs"/>
                    <a:sym typeface="Helvetica"/>
                  </a:defRPr>
                </a:lvl1pPr>
              </a:lstStyle>
              <a:p>
                <a:pPr/>
                <a:r>
                  <a:t>vGPU</a:t>
                </a:r>
              </a:p>
            </p:txBody>
          </p:sp>
        </p:grpSp>
        <p:grpSp>
          <p:nvGrpSpPr>
            <p:cNvPr id="416" name="Rectangle 35"/>
            <p:cNvGrpSpPr/>
            <p:nvPr/>
          </p:nvGrpSpPr>
          <p:grpSpPr>
            <a:xfrm>
              <a:off x="4496845" y="1031473"/>
              <a:ext cx="1197202" cy="1120828"/>
              <a:chOff x="0" y="0"/>
              <a:chExt cx="1197201" cy="1120826"/>
            </a:xfrm>
          </p:grpSpPr>
          <p:sp>
            <p:nvSpPr>
              <p:cNvPr id="414" name="Rectangle"/>
              <p:cNvSpPr/>
              <p:nvPr/>
            </p:nvSpPr>
            <p:spPr>
              <a:xfrm>
                <a:off x="0" y="0"/>
                <a:ext cx="1197202" cy="1120827"/>
              </a:xfrm>
              <a:prstGeom prst="rect">
                <a:avLst/>
              </a:prstGeom>
              <a:solidFill>
                <a:srgbClr val="FFFFFF"/>
              </a:solidFill>
              <a:ln w="19050" cap="flat">
                <a:solidFill>
                  <a:srgbClr val="0091DA"/>
                </a:solidFill>
                <a:prstDash val="solid"/>
                <a:round/>
              </a:ln>
              <a:effectLst/>
            </p:spPr>
            <p:txBody>
              <a:bodyPr wrap="square" lIns="45719" tIns="45719" rIns="45719" bIns="45719"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p>
            </p:txBody>
          </p:sp>
          <p:sp>
            <p:nvSpPr>
              <p:cNvPr id="415" name="CV App4"/>
              <p:cNvSpPr txBox="1"/>
              <p:nvPr/>
            </p:nvSpPr>
            <p:spPr>
              <a:xfrm>
                <a:off x="18970" y="29251"/>
                <a:ext cx="1159261" cy="10623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defTabSz="914400">
                  <a:lnSpc>
                    <a:spcPct val="100000"/>
                  </a:lnSpc>
                  <a:spcBef>
                    <a:spcPts val="600"/>
                  </a:spcBef>
                  <a:defRPr sz="1200">
                    <a:solidFill>
                      <a:srgbClr val="1D428A"/>
                    </a:solidFill>
                    <a:latin typeface="+mn-lt"/>
                    <a:ea typeface="+mn-ea"/>
                    <a:cs typeface="+mn-cs"/>
                    <a:sym typeface="Helvetica"/>
                  </a:defRPr>
                </a:pPr>
                <a:r>
                  <a:t>CV App4</a:t>
                </a:r>
                <a:br/>
              </a:p>
            </p:txBody>
          </p:sp>
        </p:grpSp>
        <p:grpSp>
          <p:nvGrpSpPr>
            <p:cNvPr id="419" name="Rectangle 36"/>
            <p:cNvGrpSpPr/>
            <p:nvPr/>
          </p:nvGrpSpPr>
          <p:grpSpPr>
            <a:xfrm>
              <a:off x="4509930" y="1856695"/>
              <a:ext cx="1171032" cy="303522"/>
              <a:chOff x="0" y="0"/>
              <a:chExt cx="1171031" cy="303520"/>
            </a:xfrm>
          </p:grpSpPr>
          <p:sp>
            <p:nvSpPr>
              <p:cNvPr id="417" name="Rectangle"/>
              <p:cNvSpPr/>
              <p:nvPr/>
            </p:nvSpPr>
            <p:spPr>
              <a:xfrm>
                <a:off x="0" y="16211"/>
                <a:ext cx="1171032" cy="271099"/>
              </a:xfrm>
              <a:prstGeom prst="rect">
                <a:avLst/>
              </a:prstGeom>
              <a:solidFill>
                <a:srgbClr val="78BE20"/>
              </a:solidFill>
              <a:ln w="19050" cap="flat">
                <a:solidFill>
                  <a:srgbClr val="3F3F3F"/>
                </a:solidFill>
                <a:prstDash val="solid"/>
                <a:round/>
              </a:ln>
              <a:effectLst/>
            </p:spPr>
            <p:txBody>
              <a:bodyPr wrap="square" lIns="45719" tIns="45719" rIns="45719" bIns="45719" numCol="1" anchor="ctr">
                <a:noAutofit/>
              </a:bodyPr>
              <a:lstStyle/>
              <a:p>
                <a:pPr algn="ctr" defTabSz="914400">
                  <a:lnSpc>
                    <a:spcPct val="100000"/>
                  </a:lnSpc>
                  <a:spcBef>
                    <a:spcPts val="600"/>
                  </a:spcBef>
                  <a:defRPr sz="1800">
                    <a:solidFill>
                      <a:srgbClr val="FFFFFF"/>
                    </a:solidFill>
                    <a:latin typeface="+mn-lt"/>
                    <a:ea typeface="+mn-ea"/>
                    <a:cs typeface="+mn-cs"/>
                    <a:sym typeface="Helvetica"/>
                  </a:defRPr>
                </a:pPr>
              </a:p>
            </p:txBody>
          </p:sp>
          <p:sp>
            <p:nvSpPr>
              <p:cNvPr id="418" name="vGPU"/>
              <p:cNvSpPr txBox="1"/>
              <p:nvPr/>
            </p:nvSpPr>
            <p:spPr>
              <a:xfrm>
                <a:off x="18970" y="0"/>
                <a:ext cx="1133092" cy="3035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ctr" defTabSz="914400">
                  <a:lnSpc>
                    <a:spcPct val="100000"/>
                  </a:lnSpc>
                  <a:spcBef>
                    <a:spcPts val="600"/>
                  </a:spcBef>
                  <a:defRPr sz="1000">
                    <a:solidFill>
                      <a:srgbClr val="FFFFFF"/>
                    </a:solidFill>
                    <a:latin typeface="+mn-lt"/>
                    <a:ea typeface="+mn-ea"/>
                    <a:cs typeface="+mn-cs"/>
                    <a:sym typeface="Helvetica"/>
                  </a:defRPr>
                </a:lvl1pPr>
              </a:lstStyle>
              <a:p>
                <a:pPr/>
                <a:r>
                  <a:t>vGPU</a:t>
                </a:r>
              </a:p>
            </p:txBody>
          </p:sp>
        </p:grpSp>
        <p:pic>
          <p:nvPicPr>
            <p:cNvPr id="420" name="Picture 2" descr="Picture 2"/>
            <p:cNvPicPr>
              <a:picLocks noChangeAspect="1"/>
            </p:cNvPicPr>
            <p:nvPr/>
          </p:nvPicPr>
          <p:blipFill>
            <a:blip r:embed="rId2">
              <a:extLst/>
            </a:blip>
            <a:srcRect l="0" t="0" r="0" b="9658"/>
            <a:stretch>
              <a:fillRect/>
            </a:stretch>
          </p:blipFill>
          <p:spPr>
            <a:xfrm>
              <a:off x="1754299" y="-1"/>
              <a:ext cx="703834" cy="683097"/>
            </a:xfrm>
            <a:prstGeom prst="rect">
              <a:avLst/>
            </a:prstGeom>
            <a:ln w="12700" cap="flat">
              <a:noFill/>
              <a:miter lim="400000"/>
            </a:ln>
            <a:effectLst/>
          </p:spPr>
        </p:pic>
        <p:pic>
          <p:nvPicPr>
            <p:cNvPr id="421" name="Picture 2" descr="Picture 2"/>
            <p:cNvPicPr>
              <a:picLocks noChangeAspect="1"/>
            </p:cNvPicPr>
            <p:nvPr/>
          </p:nvPicPr>
          <p:blipFill>
            <a:blip r:embed="rId2">
              <a:extLst/>
            </a:blip>
            <a:srcRect l="0" t="0" r="0" b="9658"/>
            <a:stretch>
              <a:fillRect/>
            </a:stretch>
          </p:blipFill>
          <p:spPr>
            <a:xfrm>
              <a:off x="2844086" y="2353"/>
              <a:ext cx="703834" cy="683096"/>
            </a:xfrm>
            <a:prstGeom prst="rect">
              <a:avLst/>
            </a:prstGeom>
            <a:ln w="12700" cap="flat">
              <a:noFill/>
              <a:miter lim="400000"/>
            </a:ln>
            <a:effectLst/>
          </p:spPr>
        </p:pic>
        <p:pic>
          <p:nvPicPr>
            <p:cNvPr id="422" name="Picture 2" descr="Picture 2"/>
            <p:cNvPicPr>
              <a:picLocks noChangeAspect="1"/>
            </p:cNvPicPr>
            <p:nvPr/>
          </p:nvPicPr>
          <p:blipFill>
            <a:blip r:embed="rId2">
              <a:extLst/>
            </a:blip>
            <a:srcRect l="0" t="0" r="0" b="9658"/>
            <a:stretch>
              <a:fillRect/>
            </a:stretch>
          </p:blipFill>
          <p:spPr>
            <a:xfrm>
              <a:off x="4743529" y="7499"/>
              <a:ext cx="703834" cy="683096"/>
            </a:xfrm>
            <a:prstGeom prst="rect">
              <a:avLst/>
            </a:prstGeom>
            <a:ln w="12700" cap="flat">
              <a:noFill/>
              <a:miter lim="400000"/>
            </a:ln>
            <a:effectLst/>
          </p:spPr>
        </p:pic>
        <p:sp>
          <p:nvSpPr>
            <p:cNvPr id="423" name="Elbow Connector 49"/>
            <p:cNvSpPr/>
            <p:nvPr/>
          </p:nvSpPr>
          <p:spPr>
            <a:xfrm rot="5400000">
              <a:off x="1937821" y="834155"/>
              <a:ext cx="336794" cy="252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424" name="Elbow Connector 51"/>
            <p:cNvSpPr/>
            <p:nvPr/>
          </p:nvSpPr>
          <p:spPr>
            <a:xfrm rot="5400000">
              <a:off x="3032772" y="845814"/>
              <a:ext cx="336794" cy="252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425" name="Elbow Connector 52"/>
            <p:cNvSpPr/>
            <p:nvPr/>
          </p:nvSpPr>
          <p:spPr>
            <a:xfrm rot="5400000">
              <a:off x="4925448" y="857174"/>
              <a:ext cx="336794" cy="252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pic>
          <p:nvPicPr>
            <p:cNvPr id="426" name="Picture 2" descr="Picture 2"/>
            <p:cNvPicPr>
              <a:picLocks noChangeAspect="1"/>
            </p:cNvPicPr>
            <p:nvPr/>
          </p:nvPicPr>
          <p:blipFill>
            <a:blip r:embed="rId2">
              <a:extLst/>
            </a:blip>
            <a:srcRect l="0" t="0" r="0" b="9658"/>
            <a:stretch>
              <a:fillRect/>
            </a:stretch>
          </p:blipFill>
          <p:spPr>
            <a:xfrm>
              <a:off x="3592692" y="9117"/>
              <a:ext cx="703835" cy="683096"/>
            </a:xfrm>
            <a:prstGeom prst="rect">
              <a:avLst/>
            </a:prstGeom>
            <a:ln w="12700" cap="flat">
              <a:noFill/>
              <a:miter lim="400000"/>
            </a:ln>
            <a:effectLst/>
          </p:spPr>
        </p:pic>
        <p:sp>
          <p:nvSpPr>
            <p:cNvPr id="427" name="Elbow Connector 78"/>
            <p:cNvSpPr/>
            <p:nvPr/>
          </p:nvSpPr>
          <p:spPr>
            <a:xfrm rot="5400000">
              <a:off x="3775404" y="856101"/>
              <a:ext cx="336794" cy="252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428" name="Elbow Connector 2"/>
            <p:cNvSpPr/>
            <p:nvPr/>
          </p:nvSpPr>
          <p:spPr>
            <a:xfrm flipH="1" rot="16200000">
              <a:off x="1545582" y="1210022"/>
              <a:ext cx="1117852" cy="29858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429" name="Elbow Connector 3"/>
            <p:cNvSpPr/>
            <p:nvPr/>
          </p:nvSpPr>
          <p:spPr>
            <a:xfrm flipH="1" rot="16200000">
              <a:off x="2292890" y="1957329"/>
              <a:ext cx="1117852" cy="1491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430" name="Elbow Connector 4"/>
            <p:cNvSpPr/>
            <p:nvPr/>
          </p:nvSpPr>
          <p:spPr>
            <a:xfrm rot="5400000">
              <a:off x="3040200" y="2690284"/>
              <a:ext cx="1117852" cy="252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sp>
          <p:nvSpPr>
            <p:cNvPr id="431" name="Elbow Connector 5"/>
            <p:cNvSpPr/>
            <p:nvPr/>
          </p:nvSpPr>
          <p:spPr>
            <a:xfrm rot="5400000">
              <a:off x="3787507" y="1953916"/>
              <a:ext cx="1117852" cy="14980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0"/>
                  </a:lnTo>
                  <a:lnTo>
                    <a:pt x="10800" y="21600"/>
                  </a:lnTo>
                  <a:lnTo>
                    <a:pt x="21600" y="21600"/>
                  </a:lnTo>
                </a:path>
              </a:pathLst>
            </a:custGeom>
            <a:noFill/>
            <a:ln w="25400" cap="flat">
              <a:solidFill>
                <a:srgbClr val="717074"/>
              </a:solidFill>
              <a:prstDash val="solid"/>
              <a:miter lim="800000"/>
            </a:ln>
            <a:effectLst/>
          </p:spPr>
          <p:txBody>
            <a:bodyPr wrap="square" lIns="45719" tIns="45719" rIns="45719" bIns="45719" numCol="1" anchor="ctr">
              <a:noAutofit/>
            </a:bodyPr>
            <a:lstStyle/>
            <a:p>
              <a:pPr defTabSz="914400">
                <a:lnSpc>
                  <a:spcPct val="100000"/>
                </a:lnSpc>
                <a:spcBef>
                  <a:spcPts val="0"/>
                </a:spcBef>
                <a:defRPr sz="1800">
                  <a:solidFill>
                    <a:srgbClr val="717074"/>
                  </a:solidFill>
                  <a:latin typeface="+mn-lt"/>
                  <a:ea typeface="+mn-ea"/>
                  <a:cs typeface="+mn-cs"/>
                  <a:sym typeface="Helvetica"/>
                </a:defRPr>
              </a:pPr>
            </a:p>
          </p:txBody>
        </p:sp>
      </p:grpSp>
      <p:sp>
        <p:nvSpPr>
          <p:cNvPr id="433" name="Passthrough"/>
          <p:cNvSpPr txBox="1"/>
          <p:nvPr/>
        </p:nvSpPr>
        <p:spPr>
          <a:xfrm>
            <a:off x="10077551" y="3908371"/>
            <a:ext cx="3546959"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Passthrough</a:t>
            </a:r>
          </a:p>
        </p:txBody>
      </p:sp>
      <p:sp>
        <p:nvSpPr>
          <p:cNvPr id="434" name="Shared vGPU ( NVIDIA NVAIE license )"/>
          <p:cNvSpPr txBox="1"/>
          <p:nvPr/>
        </p:nvSpPr>
        <p:spPr>
          <a:xfrm>
            <a:off x="10077551" y="9166171"/>
            <a:ext cx="10550653"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Shared vGPU ( NVIDIA NVAIE license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